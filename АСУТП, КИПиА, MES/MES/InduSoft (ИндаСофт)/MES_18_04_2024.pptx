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56"/>
  </p:notesMasterIdLst>
  <p:handoutMasterIdLst>
    <p:handoutMasterId r:id="rId57"/>
  </p:handoutMasterIdLst>
  <p:sldIdLst>
    <p:sldId id="296" r:id="rId2"/>
    <p:sldId id="395" r:id="rId3"/>
    <p:sldId id="467" r:id="rId4"/>
    <p:sldId id="470" r:id="rId5"/>
    <p:sldId id="469" r:id="rId6"/>
    <p:sldId id="468" r:id="rId7"/>
    <p:sldId id="472" r:id="rId8"/>
    <p:sldId id="474" r:id="rId9"/>
    <p:sldId id="473" r:id="rId10"/>
    <p:sldId id="297" r:id="rId11"/>
    <p:sldId id="434" r:id="rId12"/>
    <p:sldId id="298" r:id="rId13"/>
    <p:sldId id="299" r:id="rId14"/>
    <p:sldId id="403" r:id="rId15"/>
    <p:sldId id="405" r:id="rId16"/>
    <p:sldId id="426" r:id="rId17"/>
    <p:sldId id="311" r:id="rId18"/>
    <p:sldId id="313" r:id="rId19"/>
    <p:sldId id="392" r:id="rId20"/>
    <p:sldId id="419" r:id="rId21"/>
    <p:sldId id="420" r:id="rId22"/>
    <p:sldId id="424" r:id="rId23"/>
    <p:sldId id="342" r:id="rId24"/>
    <p:sldId id="343" r:id="rId25"/>
    <p:sldId id="344" r:id="rId26"/>
    <p:sldId id="345" r:id="rId27"/>
    <p:sldId id="399" r:id="rId28"/>
    <p:sldId id="349" r:id="rId29"/>
    <p:sldId id="350" r:id="rId30"/>
    <p:sldId id="438" r:id="rId31"/>
    <p:sldId id="439" r:id="rId32"/>
    <p:sldId id="351" r:id="rId33"/>
    <p:sldId id="441" r:id="rId34"/>
    <p:sldId id="475" r:id="rId35"/>
    <p:sldId id="353" r:id="rId36"/>
    <p:sldId id="354" r:id="rId37"/>
    <p:sldId id="360" r:id="rId38"/>
    <p:sldId id="440" r:id="rId39"/>
    <p:sldId id="355" r:id="rId40"/>
    <p:sldId id="265" r:id="rId41"/>
    <p:sldId id="450" r:id="rId42"/>
    <p:sldId id="446" r:id="rId43"/>
    <p:sldId id="364" r:id="rId44"/>
    <p:sldId id="267" r:id="rId45"/>
    <p:sldId id="456" r:id="rId46"/>
    <p:sldId id="457" r:id="rId47"/>
    <p:sldId id="459" r:id="rId48"/>
    <p:sldId id="461" r:id="rId49"/>
    <p:sldId id="462" r:id="rId50"/>
    <p:sldId id="460" r:id="rId51"/>
    <p:sldId id="423" r:id="rId52"/>
    <p:sldId id="316" r:id="rId53"/>
    <p:sldId id="319" r:id="rId54"/>
    <p:sldId id="476" r:id="rId5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43" autoAdjust="0"/>
    <p:restoredTop sz="93238" autoAdjust="0"/>
  </p:normalViewPr>
  <p:slideViewPr>
    <p:cSldViewPr snapToGrid="0" showGuides="1">
      <p:cViewPr varScale="1">
        <p:scale>
          <a:sx n="102" d="100"/>
          <a:sy n="102" d="100"/>
        </p:scale>
        <p:origin x="1404" y="96"/>
      </p:cViewPr>
      <p:guideLst>
        <p:guide orient="horz" pos="2092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4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4" Type="http://schemas.openxmlformats.org/officeDocument/2006/relationships/image" Target="../media/image2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21C4D-699D-4CA7-B060-7D2A9566BF4D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9D833-F5A7-4E08-97D9-36C3B19BB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09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B79BF-BA25-4641-A764-8B4D1090D7A1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D4852-E11F-4E45-BA0E-D3D6B82BA9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12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D4852-E11F-4E45-BA0E-D3D6B82BA95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760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b="1" kern="0" dirty="0">
                <a:solidFill>
                  <a:schemeClr val="tx2"/>
                </a:solidFill>
              </a:rPr>
              <a:t> достоверных</a:t>
            </a:r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922338"/>
            <a:fld id="{AC50FA62-C994-47E2-8672-B05B834FEC0D}" type="slidenum">
              <a:rPr lang="en-US" smtClean="0">
                <a:ea typeface="ヒラギノ角ゴ Pro W3"/>
                <a:cs typeface="ヒラギノ角ゴ Pro W3"/>
              </a:rPr>
              <a:pPr defTabSz="922338"/>
              <a:t>20</a:t>
            </a:fld>
            <a:endParaRPr lang="en-US"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228884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6B906-7240-4FB3-8149-6530FDBD3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41B966-A9E1-45D8-8E3E-E0AA4D7F3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FBAA20-8615-48A1-AAC9-15690120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166451-597D-43F7-A12E-AA5E53D0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91FE7A-42DE-4E01-A3DD-789E2E67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24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4AD35-A05E-44CA-9D51-859F16F1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F6192A-F909-432F-8780-B4FB22D1E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F2C7E-53A3-4979-A3B6-E0F7186E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A24C1-A9BD-419B-9069-F4C4F7C7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D625E-4299-44F5-9DB7-328B057D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87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DDF6B-CEB8-45B4-A9FA-247AE8709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88A791-79A9-4FF7-807F-119FEB1A2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B5D6B8-C1D0-49E1-9221-2D1B9610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AA9FFF-A076-4478-AE78-1ADC1D3B2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405252-31EB-4814-8901-AA253A0C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12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47AE4-81CD-4FA4-AE9F-94E8F9F0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030C7-D143-4C6A-B4CB-AA1F6A5E9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CCFF86-51A6-4157-A172-CAF707C67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E72A21-FE6B-419A-8015-1595EF61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87CD36-10C0-4264-AAEA-05C086AB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CDB6C0-3FC1-402A-97E3-F8E11C68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30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BB209-F1F9-4C66-8B16-90314A36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0A3FE9-FC59-4E6F-B787-270247452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D35EB8-B39F-4DD4-ABB3-DC51F5FF6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702062-9E27-4B58-BA76-36E4866C4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FF3C53-F637-4110-81B9-4D821DE27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538820-C184-4EAB-911F-3762EDF5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4552D7B-1A42-4A6B-ADB1-B56A920D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48BD2A-2885-44AE-AB1D-BBA3CBBC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17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4FB702-523E-4E4A-A039-E2CCDF02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E676F6C-BFBF-4100-9DD0-DBEBD943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96ADAC-5718-4481-9BEE-8BCA300D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CC5161-4ACF-4ED2-8263-00F0A47C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450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117AB9-ADC0-4C17-864E-DDA7205D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B1B6D20-94AC-4EF5-A86F-AB287003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6B8093-6B92-4FB0-B72F-173E48E2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63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B634C-6F50-4138-8E75-4951C571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F09AEF-BBEB-4C60-8463-4BA5AAD87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3C0A6A-7B43-4A48-9D08-FBD23991C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D6554A-FA41-4995-B740-755C195B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A2C811-7EA5-4BB1-A71A-DDEC5237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ABB571-708B-4415-981A-9206529E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12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B1F34-F3C6-4300-A444-D1F3578C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ECDD9A-19B0-4C81-99D0-B7B487FF0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7ECA07-9DA2-4C24-9909-89AF8D475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9159C4-25E6-433B-B7F9-F40AB346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71A61E-6758-49E1-8081-B563244A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DF3F8E-FF05-441B-8A5D-F87356A6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3A94E-1FB4-4C71-AC0E-A0C30233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AC988B-DC00-4203-8FFC-5D930C1BB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34934-3E90-46DF-B42D-56DB8619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F7E17E-A855-469D-8D7F-B35534EE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B02D3B-E2D6-4AA3-A116-87D00B92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075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3AB92D-9050-4308-9CBC-5F6FCFF2B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60E5EB-7741-44A9-82B0-45E94DF21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5FE4DB-1335-4D40-B99C-2D2EAD6C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3450A7-8803-4484-80A5-B29D2320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C5FEF4-CA2B-4A3F-8A3C-C002B25E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62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54038"/>
            <a:ext cx="7772400" cy="65881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68425"/>
            <a:ext cx="3810000" cy="4884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68425"/>
            <a:ext cx="3810000" cy="2365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86200"/>
            <a:ext cx="3810000" cy="236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0761976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03648" y="378904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7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3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4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0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6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Engineering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7F5BF62-9A39-4408-9354-E052A741DB8E}" type="datetimeFigureOut">
              <a:rPr lang="en-US" smtClean="0">
                <a:solidFill>
                  <a:prstClr val="black"/>
                </a:solidFill>
              </a:rPr>
              <a:pPr/>
              <a:t>3/18/2024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19D93DE-203E-4304-A014-2DF948D07CB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86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D0BB2-B13A-4D93-BE05-9EE9BD97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97DD92-A20D-4C0B-924A-F29F26D16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FAADE1-5441-493D-910D-42D3A26FD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8487F-DE18-419E-ADEA-854DD420F4E6}" type="datetimeFigureOut">
              <a:rPr lang="ru-RU" smtClean="0"/>
              <a:t>18.03.2024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EECD9E-56F5-4232-A515-A7009A761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159D29-2B99-42B9-B5BF-AFF5E5D38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46EB4-0E9E-4D1D-ABF5-3CCEB1E8D70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49217-BE5B-4E6E-8852-3641D7BE8684}"/>
              </a:ext>
            </a:extLst>
          </p:cNvPr>
          <p:cNvSpPr txBox="1"/>
          <p:nvPr userDrawn="1"/>
        </p:nvSpPr>
        <p:spPr>
          <a:xfrm>
            <a:off x="7486650" y="0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u="none" dirty="0">
                <a:solidFill>
                  <a:schemeClr val="tx1"/>
                </a:solidFill>
              </a:rPr>
              <a:t>Honeywell</a:t>
            </a:r>
            <a:endParaRPr lang="ru-RU" sz="1800" b="1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41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67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4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package" Target="../embeddings/Microsoft_Visio_Drawing.vsdx"/><Relationship Id="rId7" Type="http://schemas.openxmlformats.org/officeDocument/2006/relationships/package" Target="../embeddings/Microsoft_Visio_Drawing2.vsdx"/><Relationship Id="rId12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emf"/><Relationship Id="rId11" Type="http://schemas.openxmlformats.org/officeDocument/2006/relationships/image" Target="../media/image23.emf"/><Relationship Id="rId5" Type="http://schemas.openxmlformats.org/officeDocument/2006/relationships/package" Target="../embeddings/Microsoft_Visio_Drawing1.vsdx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package" Target="../embeddings/Microsoft_Visio_Drawing3.vsd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image" Target="../media/image27.png"/><Relationship Id="rId3" Type="http://schemas.openxmlformats.org/officeDocument/2006/relationships/package" Target="../embeddings/Microsoft_Visio_Drawing4.vsdx"/><Relationship Id="rId7" Type="http://schemas.openxmlformats.org/officeDocument/2006/relationships/package" Target="../embeddings/Microsoft_Visio_Drawing6.vsdx"/><Relationship Id="rId12" Type="http://schemas.openxmlformats.org/officeDocument/2006/relationships/image" Target="../media/image26.png"/><Relationship Id="rId1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emf"/><Relationship Id="rId11" Type="http://schemas.openxmlformats.org/officeDocument/2006/relationships/image" Target="../media/image25.png"/><Relationship Id="rId5" Type="http://schemas.openxmlformats.org/officeDocument/2006/relationships/package" Target="../embeddings/Microsoft_Visio_Drawing5.vsdx"/><Relationship Id="rId15" Type="http://schemas.openxmlformats.org/officeDocument/2006/relationships/image" Target="../media/image29.png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package" Target="../embeddings/Microsoft_Visio_Drawing7.vsdx"/><Relationship Id="rId1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0" y="1495227"/>
            <a:ext cx="7467600" cy="1428082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183057" y="971531"/>
            <a:ext cx="7104446" cy="1436606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06B4E4-C92B-4C79-9690-79457F5EF6E1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EB004-7CB8-4E7A-BB87-569E11377208}"/>
              </a:ext>
            </a:extLst>
          </p:cNvPr>
          <p:cNvSpPr txBox="1"/>
          <p:nvPr/>
        </p:nvSpPr>
        <p:spPr>
          <a:xfrm>
            <a:off x="295276" y="876121"/>
            <a:ext cx="8562974" cy="3780567"/>
          </a:xfrm>
          <a:prstGeom prst="rect">
            <a:avLst/>
          </a:prstGeom>
          <a:noFill/>
        </p:spPr>
        <p:txBody>
          <a:bodyPr wrap="square" lIns="91162" tIns="45583" rIns="91162" bIns="45583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MES (от англ. </a:t>
            </a:r>
            <a:r>
              <a:rPr lang="ru-RU" sz="23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manufacturing</a:t>
            </a: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3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execution</a:t>
            </a: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3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system</a:t>
            </a: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) — система управления производственными процессами.</a:t>
            </a:r>
            <a:endParaRPr lang="en-US" sz="23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Специализированное прикладное программное обеспечение, предназначенное для решения задач синхронизации, координации, анализа и оптимизации выпуска продукции в рамках какого-либо производства.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3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Рассмотрим процесс внедрения на примере ПО от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Honeywell Production Accounting and Reconciliation</a:t>
            </a: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PAR</a:t>
            </a: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597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6438" y="1869304"/>
            <a:ext cx="827180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Знакомство с </a:t>
            </a:r>
            <a:r>
              <a:rPr lang="en-US" sz="2800" dirty="0"/>
              <a:t>Production Accounting and Reconciliation</a:t>
            </a:r>
            <a:r>
              <a:rPr lang="ru-RU" sz="2800" dirty="0"/>
              <a:t> (</a:t>
            </a:r>
            <a:r>
              <a:rPr lang="en-US" sz="2800" dirty="0"/>
              <a:t>PAR</a:t>
            </a:r>
            <a:r>
              <a:rPr lang="ru-RU" sz="2800" dirty="0"/>
              <a:t>)</a:t>
            </a:r>
            <a:r>
              <a:rPr lang="en-US" sz="2800" dirty="0"/>
              <a:t> </a:t>
            </a:r>
            <a:endParaRPr lang="ru-RU" sz="28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Теоретические аспекты согласования балансов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Разработка и кодирование балансовой схемы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Идентификация тегов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Балансовая модель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Балансовый период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Анализ и корректировка данных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800" dirty="0"/>
              <a:t>Согласование балансов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Содержание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36AA81-D521-4330-8D72-57EA2249FB90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44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1909200" y="3764342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ounded Rectangle 3"/>
          <p:cNvSpPr/>
          <p:nvPr/>
        </p:nvSpPr>
        <p:spPr>
          <a:xfrm>
            <a:off x="4325115" y="2206790"/>
            <a:ext cx="554182" cy="376843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ight Arrow 4"/>
          <p:cNvSpPr/>
          <p:nvPr/>
        </p:nvSpPr>
        <p:spPr>
          <a:xfrm>
            <a:off x="6259528" y="267892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Arrow 5"/>
          <p:cNvSpPr/>
          <p:nvPr/>
        </p:nvSpPr>
        <p:spPr>
          <a:xfrm>
            <a:off x="6265092" y="3800062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ight Arrow 6"/>
          <p:cNvSpPr/>
          <p:nvPr/>
        </p:nvSpPr>
        <p:spPr>
          <a:xfrm>
            <a:off x="6259528" y="4921199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Straight Connector 8"/>
          <p:cNvCxnSpPr>
            <a:stCxn id="3" idx="3"/>
          </p:cNvCxnSpPr>
          <p:nvPr/>
        </p:nvCxnSpPr>
        <p:spPr>
          <a:xfrm>
            <a:off x="2646218" y="3909815"/>
            <a:ext cx="1678897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5" idx="1"/>
          </p:cNvCxnSpPr>
          <p:nvPr/>
        </p:nvCxnSpPr>
        <p:spPr>
          <a:xfrm>
            <a:off x="4879297" y="2824398"/>
            <a:ext cx="1380231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1"/>
          </p:cNvCxnSpPr>
          <p:nvPr/>
        </p:nvCxnSpPr>
        <p:spPr>
          <a:xfrm>
            <a:off x="4879297" y="3945535"/>
            <a:ext cx="1385795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879297" y="5066672"/>
            <a:ext cx="1380230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32989" y="2639732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6546" y="3718301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2989" y="4882006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722" y="3706736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1</a:t>
            </a: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Что такое баланс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BD3F83-BB78-444B-BF70-0EC2FE88CB8D}"/>
              </a:ext>
            </a:extLst>
          </p:cNvPr>
          <p:cNvSpPr/>
          <p:nvPr/>
        </p:nvSpPr>
        <p:spPr>
          <a:xfrm>
            <a:off x="2939320" y="3823923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33E355-82B7-48C5-BE1B-712FF54E5751}"/>
              </a:ext>
            </a:extLst>
          </p:cNvPr>
          <p:cNvSpPr/>
          <p:nvPr/>
        </p:nvSpPr>
        <p:spPr>
          <a:xfrm>
            <a:off x="5576837" y="4965959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B1DB34-2FD7-4CEB-9396-5D7DD2E25FF3}"/>
              </a:ext>
            </a:extLst>
          </p:cNvPr>
          <p:cNvSpPr/>
          <p:nvPr/>
        </p:nvSpPr>
        <p:spPr>
          <a:xfrm>
            <a:off x="5576837" y="3823923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9E986A4-BC5C-4CF6-A4F0-60D636BD5260}"/>
              </a:ext>
            </a:extLst>
          </p:cNvPr>
          <p:cNvSpPr/>
          <p:nvPr/>
        </p:nvSpPr>
        <p:spPr>
          <a:xfrm>
            <a:off x="5576837" y="2725666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6280A6-D070-43C5-BA51-46E4FAE50F0D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B283DD66-802B-4161-A791-1E4212F92046}"/>
              </a:ext>
            </a:extLst>
          </p:cNvPr>
          <p:cNvSpPr/>
          <p:nvPr/>
        </p:nvSpPr>
        <p:spPr>
          <a:xfrm>
            <a:off x="414722" y="1124055"/>
            <a:ext cx="8391188" cy="83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ru-RU" sz="2000" dirty="0"/>
              <a:t>Баланс - это соотношение между количествами исходных материалов, полученного готового продукта, отходами производства и материальными потерями. </a:t>
            </a:r>
          </a:p>
        </p:txBody>
      </p:sp>
    </p:spTree>
    <p:extLst>
      <p:ext uri="{BB962C8B-B14F-4D97-AF65-F5344CB8AC3E}">
        <p14:creationId xmlns:p14="http://schemas.microsoft.com/office/powerpoint/2010/main" val="235316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1909200" y="2831088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ounded Rectangle 3"/>
          <p:cNvSpPr/>
          <p:nvPr/>
        </p:nvSpPr>
        <p:spPr>
          <a:xfrm>
            <a:off x="4325115" y="1273536"/>
            <a:ext cx="554182" cy="376843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ight Arrow 4"/>
          <p:cNvSpPr/>
          <p:nvPr/>
        </p:nvSpPr>
        <p:spPr>
          <a:xfrm>
            <a:off x="6259528" y="1745671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Arrow 5"/>
          <p:cNvSpPr/>
          <p:nvPr/>
        </p:nvSpPr>
        <p:spPr>
          <a:xfrm>
            <a:off x="6265092" y="2866808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ight Arrow 6"/>
          <p:cNvSpPr/>
          <p:nvPr/>
        </p:nvSpPr>
        <p:spPr>
          <a:xfrm>
            <a:off x="6259528" y="398794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Straight Connector 8"/>
          <p:cNvCxnSpPr>
            <a:stCxn id="3" idx="3"/>
          </p:cNvCxnSpPr>
          <p:nvPr/>
        </p:nvCxnSpPr>
        <p:spPr>
          <a:xfrm>
            <a:off x="2646218" y="2976561"/>
            <a:ext cx="1678897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5" idx="1"/>
          </p:cNvCxnSpPr>
          <p:nvPr/>
        </p:nvCxnSpPr>
        <p:spPr>
          <a:xfrm>
            <a:off x="4879297" y="1891144"/>
            <a:ext cx="1380231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1"/>
          </p:cNvCxnSpPr>
          <p:nvPr/>
        </p:nvCxnSpPr>
        <p:spPr>
          <a:xfrm>
            <a:off x="4879297" y="3012281"/>
            <a:ext cx="1385795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879297" y="4133418"/>
            <a:ext cx="1380230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7254" y="253449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98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09599" y="1478083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21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5362" y="2588816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49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55362" y="3691350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32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32989" y="1706478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6546" y="2785047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2989" y="3948752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722" y="2773482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1</a:t>
            </a: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Что такое баланс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BD3F83-BB78-444B-BF70-0EC2FE88CB8D}"/>
              </a:ext>
            </a:extLst>
          </p:cNvPr>
          <p:cNvSpPr/>
          <p:nvPr/>
        </p:nvSpPr>
        <p:spPr>
          <a:xfrm>
            <a:off x="2939320" y="2890669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33E355-82B7-48C5-BE1B-712FF54E5751}"/>
              </a:ext>
            </a:extLst>
          </p:cNvPr>
          <p:cNvSpPr/>
          <p:nvPr/>
        </p:nvSpPr>
        <p:spPr>
          <a:xfrm>
            <a:off x="5576837" y="403270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B1DB34-2FD7-4CEB-9396-5D7DD2E25FF3}"/>
              </a:ext>
            </a:extLst>
          </p:cNvPr>
          <p:cNvSpPr/>
          <p:nvPr/>
        </p:nvSpPr>
        <p:spPr>
          <a:xfrm>
            <a:off x="5576837" y="2890669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9E986A4-BC5C-4CF6-A4F0-60D636BD5260}"/>
              </a:ext>
            </a:extLst>
          </p:cNvPr>
          <p:cNvSpPr/>
          <p:nvPr/>
        </p:nvSpPr>
        <p:spPr>
          <a:xfrm>
            <a:off x="5576837" y="1792412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C89CADE-7075-4C6E-8A4A-4360729619DB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81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1909200" y="2831088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ounded Rectangle 3"/>
          <p:cNvSpPr/>
          <p:nvPr/>
        </p:nvSpPr>
        <p:spPr>
          <a:xfrm>
            <a:off x="4325115" y="1273536"/>
            <a:ext cx="554182" cy="376843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ight Arrow 4"/>
          <p:cNvSpPr/>
          <p:nvPr/>
        </p:nvSpPr>
        <p:spPr>
          <a:xfrm>
            <a:off x="6259528" y="1745671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Arrow 5"/>
          <p:cNvSpPr/>
          <p:nvPr/>
        </p:nvSpPr>
        <p:spPr>
          <a:xfrm>
            <a:off x="6265092" y="2866808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ight Arrow 6"/>
          <p:cNvSpPr/>
          <p:nvPr/>
        </p:nvSpPr>
        <p:spPr>
          <a:xfrm>
            <a:off x="6259528" y="398794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Straight Connector 8"/>
          <p:cNvCxnSpPr>
            <a:stCxn id="3" idx="3"/>
          </p:cNvCxnSpPr>
          <p:nvPr/>
        </p:nvCxnSpPr>
        <p:spPr>
          <a:xfrm>
            <a:off x="2646218" y="2976561"/>
            <a:ext cx="1678897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5" idx="1"/>
          </p:cNvCxnSpPr>
          <p:nvPr/>
        </p:nvCxnSpPr>
        <p:spPr>
          <a:xfrm>
            <a:off x="4879297" y="1891144"/>
            <a:ext cx="1380231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1"/>
          </p:cNvCxnSpPr>
          <p:nvPr/>
        </p:nvCxnSpPr>
        <p:spPr>
          <a:xfrm>
            <a:off x="4879297" y="3012281"/>
            <a:ext cx="1385795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879297" y="4133418"/>
            <a:ext cx="1380230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7254" y="253449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98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09599" y="1478083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21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5362" y="2588816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49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55362" y="3691350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32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32989" y="1706478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6546" y="2785047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2989" y="3948752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722" y="2773482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7254" y="5438481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98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55362" y="5438481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102</a:t>
            </a: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Что такое баланс</a:t>
            </a: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4098939" y="5569527"/>
            <a:ext cx="45997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4098939" y="5676207"/>
            <a:ext cx="4523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4199384" y="5497417"/>
            <a:ext cx="251460" cy="2514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EBD3F83-BB78-444B-BF70-0EC2FE88CB8D}"/>
              </a:ext>
            </a:extLst>
          </p:cNvPr>
          <p:cNvSpPr/>
          <p:nvPr/>
        </p:nvSpPr>
        <p:spPr>
          <a:xfrm>
            <a:off x="2939320" y="2890669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33E355-82B7-48C5-BE1B-712FF54E5751}"/>
              </a:ext>
            </a:extLst>
          </p:cNvPr>
          <p:cNvSpPr/>
          <p:nvPr/>
        </p:nvSpPr>
        <p:spPr>
          <a:xfrm>
            <a:off x="5576837" y="403270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B1DB34-2FD7-4CEB-9396-5D7DD2E25FF3}"/>
              </a:ext>
            </a:extLst>
          </p:cNvPr>
          <p:cNvSpPr/>
          <p:nvPr/>
        </p:nvSpPr>
        <p:spPr>
          <a:xfrm>
            <a:off x="5576837" y="2890669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9E986A4-BC5C-4CF6-A4F0-60D636BD5260}"/>
              </a:ext>
            </a:extLst>
          </p:cNvPr>
          <p:cNvSpPr/>
          <p:nvPr/>
        </p:nvSpPr>
        <p:spPr>
          <a:xfrm>
            <a:off x="5576837" y="1792412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2BD8A26-3320-4B3C-B25C-168617F79F87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039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1909200" y="2831088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ounded Rectangle 3"/>
          <p:cNvSpPr/>
          <p:nvPr/>
        </p:nvSpPr>
        <p:spPr>
          <a:xfrm>
            <a:off x="4325115" y="1273536"/>
            <a:ext cx="554182" cy="376843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ight Arrow 4"/>
          <p:cNvSpPr/>
          <p:nvPr/>
        </p:nvSpPr>
        <p:spPr>
          <a:xfrm>
            <a:off x="6259528" y="1745671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Arrow 5"/>
          <p:cNvSpPr/>
          <p:nvPr/>
        </p:nvSpPr>
        <p:spPr>
          <a:xfrm>
            <a:off x="6265092" y="2866808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ight Arrow 6"/>
          <p:cNvSpPr/>
          <p:nvPr/>
        </p:nvSpPr>
        <p:spPr>
          <a:xfrm>
            <a:off x="6259528" y="398794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Straight Connector 8"/>
          <p:cNvCxnSpPr>
            <a:stCxn id="3" idx="3"/>
          </p:cNvCxnSpPr>
          <p:nvPr/>
        </p:nvCxnSpPr>
        <p:spPr>
          <a:xfrm>
            <a:off x="2646218" y="2976561"/>
            <a:ext cx="1678897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5" idx="1"/>
          </p:cNvCxnSpPr>
          <p:nvPr/>
        </p:nvCxnSpPr>
        <p:spPr>
          <a:xfrm>
            <a:off x="4879297" y="1891144"/>
            <a:ext cx="1380231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1"/>
          </p:cNvCxnSpPr>
          <p:nvPr/>
        </p:nvCxnSpPr>
        <p:spPr>
          <a:xfrm>
            <a:off x="4879297" y="3012281"/>
            <a:ext cx="1385795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879297" y="4133418"/>
            <a:ext cx="1380230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7254" y="253449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98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09599" y="1478083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21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55362" y="2551601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49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55362" y="3691350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32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57254" y="3033251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09599" y="1976841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55362" y="3007715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50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55362" y="4190108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32989" y="1706478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6546" y="2785047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2989" y="3948752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722" y="2773482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7254" y="5438481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98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55362" y="5438481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102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1047" y="580781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54376" y="580781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Что такое баланс</a:t>
            </a: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4098939" y="5569527"/>
            <a:ext cx="45997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4098939" y="5676207"/>
            <a:ext cx="4523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4199384" y="5497417"/>
            <a:ext cx="251460" cy="2514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4095152" y="5927666"/>
            <a:ext cx="45997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4095152" y="6034346"/>
            <a:ext cx="4523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EBD3F83-BB78-444B-BF70-0EC2FE88CB8D}"/>
              </a:ext>
            </a:extLst>
          </p:cNvPr>
          <p:cNvSpPr/>
          <p:nvPr/>
        </p:nvSpPr>
        <p:spPr>
          <a:xfrm>
            <a:off x="2939320" y="2890669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33E355-82B7-48C5-BE1B-712FF54E5751}"/>
              </a:ext>
            </a:extLst>
          </p:cNvPr>
          <p:cNvSpPr/>
          <p:nvPr/>
        </p:nvSpPr>
        <p:spPr>
          <a:xfrm>
            <a:off x="5576837" y="403270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B1DB34-2FD7-4CEB-9396-5D7DD2E25FF3}"/>
              </a:ext>
            </a:extLst>
          </p:cNvPr>
          <p:cNvSpPr/>
          <p:nvPr/>
        </p:nvSpPr>
        <p:spPr>
          <a:xfrm>
            <a:off x="5576837" y="2890669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9E986A4-BC5C-4CF6-A4F0-60D636BD5260}"/>
              </a:ext>
            </a:extLst>
          </p:cNvPr>
          <p:cNvSpPr/>
          <p:nvPr/>
        </p:nvSpPr>
        <p:spPr>
          <a:xfrm>
            <a:off x="5576837" y="1792412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BA8F3B6-6759-4B50-962F-2FAC1292FE2E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60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537812" y="2177343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Arrow 5"/>
          <p:cNvSpPr/>
          <p:nvPr/>
        </p:nvSpPr>
        <p:spPr>
          <a:xfrm>
            <a:off x="7699578" y="1358717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ight Arrow 6"/>
          <p:cNvSpPr/>
          <p:nvPr/>
        </p:nvSpPr>
        <p:spPr>
          <a:xfrm>
            <a:off x="7645049" y="5475734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Straight Connector 12"/>
          <p:cNvCxnSpPr>
            <a:cxnSpLocks/>
            <a:endCxn id="6" idx="1"/>
          </p:cNvCxnSpPr>
          <p:nvPr/>
        </p:nvCxnSpPr>
        <p:spPr>
          <a:xfrm>
            <a:off x="6652652" y="1504190"/>
            <a:ext cx="1046926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39497" y="877352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1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7243396" y="5092637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4</a:t>
            </a:r>
            <a:endParaRPr lang="ru-RU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330765" y="1759895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1</a:t>
            </a: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Что такое баланс</a:t>
            </a:r>
          </a:p>
        </p:txBody>
      </p:sp>
      <p:sp>
        <p:nvSpPr>
          <p:cNvPr id="19" name="Right Arrow 2">
            <a:extLst>
              <a:ext uri="{FF2B5EF4-FFF2-40B4-BE49-F238E27FC236}">
                <a16:creationId xmlns:a16="http://schemas.microsoft.com/office/drawing/2014/main" id="{E6DC632D-A1E4-4DC0-B9DA-ABFB57395152}"/>
              </a:ext>
            </a:extLst>
          </p:cNvPr>
          <p:cNvSpPr/>
          <p:nvPr/>
        </p:nvSpPr>
        <p:spPr>
          <a:xfrm>
            <a:off x="661002" y="5400864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535A7-C115-415B-B5D4-07F31F4220D2}"/>
              </a:ext>
            </a:extLst>
          </p:cNvPr>
          <p:cNvSpPr txBox="1"/>
          <p:nvPr/>
        </p:nvSpPr>
        <p:spPr>
          <a:xfrm>
            <a:off x="418531" y="4949634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</a:t>
            </a:r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DB38D237-CB52-47E4-975A-68678200DF08}"/>
              </a:ext>
            </a:extLst>
          </p:cNvPr>
          <p:cNvSpPr/>
          <p:nvPr/>
        </p:nvSpPr>
        <p:spPr>
          <a:xfrm>
            <a:off x="6616349" y="1275115"/>
            <a:ext cx="72607" cy="94504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A4A19389-92EA-4C3E-B3E2-8A1231066023}"/>
              </a:ext>
            </a:extLst>
          </p:cNvPr>
          <p:cNvSpPr/>
          <p:nvPr/>
        </p:nvSpPr>
        <p:spPr>
          <a:xfrm>
            <a:off x="2365241" y="2034818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2C9382-6AC2-494B-81C5-C68E7B6FFE73}"/>
              </a:ext>
            </a:extLst>
          </p:cNvPr>
          <p:cNvSpPr txBox="1"/>
          <p:nvPr/>
        </p:nvSpPr>
        <p:spPr>
          <a:xfrm>
            <a:off x="7455998" y="2263063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889B5588-F272-49D4-BDCD-CF63BB6DA989}"/>
              </a:ext>
            </a:extLst>
          </p:cNvPr>
          <p:cNvSpPr/>
          <p:nvPr/>
        </p:nvSpPr>
        <p:spPr>
          <a:xfrm>
            <a:off x="3776527" y="4508725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5E71A85A-AB58-4EE8-BEA2-4EE58C94C019}"/>
              </a:ext>
            </a:extLst>
          </p:cNvPr>
          <p:cNvSpPr/>
          <p:nvPr/>
        </p:nvSpPr>
        <p:spPr>
          <a:xfrm>
            <a:off x="5046620" y="2986760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ight Arrow 6">
            <a:extLst>
              <a:ext uri="{FF2B5EF4-FFF2-40B4-BE49-F238E27FC236}">
                <a16:creationId xmlns:a16="http://schemas.microsoft.com/office/drawing/2014/main" id="{41E56741-EF74-46BE-8895-2AD3B20DD751}"/>
              </a:ext>
            </a:extLst>
          </p:cNvPr>
          <p:cNvSpPr/>
          <p:nvPr/>
        </p:nvSpPr>
        <p:spPr>
          <a:xfrm>
            <a:off x="7772732" y="416357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38B6AB-6827-4FFD-9B56-1F7B357D46A5}"/>
              </a:ext>
            </a:extLst>
          </p:cNvPr>
          <p:cNvSpPr txBox="1"/>
          <p:nvPr/>
        </p:nvSpPr>
        <p:spPr>
          <a:xfrm>
            <a:off x="7371079" y="3780478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3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FD4EE4C-5749-4398-BE66-53BC7B792553}"/>
              </a:ext>
            </a:extLst>
          </p:cNvPr>
          <p:cNvCxnSpPr>
            <a:cxnSpLocks/>
            <a:stCxn id="40" idx="0"/>
            <a:endCxn id="23" idx="1"/>
          </p:cNvCxnSpPr>
          <p:nvPr/>
        </p:nvCxnSpPr>
        <p:spPr>
          <a:xfrm rot="5400000" flipH="1" flipV="1">
            <a:off x="5433955" y="1804367"/>
            <a:ext cx="1239122" cy="1125665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9E5E130-D8B6-4E2A-A597-7ECF267C425C}"/>
              </a:ext>
            </a:extLst>
          </p:cNvPr>
          <p:cNvCxnSpPr>
            <a:stCxn id="33" idx="3"/>
            <a:endCxn id="40" idx="1"/>
          </p:cNvCxnSpPr>
          <p:nvPr/>
        </p:nvCxnSpPr>
        <p:spPr>
          <a:xfrm>
            <a:off x="3253369" y="2317661"/>
            <a:ext cx="1793251" cy="951942"/>
          </a:xfrm>
          <a:prstGeom prst="bentConnector3">
            <a:avLst>
              <a:gd name="adj1" fmla="val 25681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BD324AB-DE41-467E-8584-EC481D8F2714}"/>
              </a:ext>
            </a:extLst>
          </p:cNvPr>
          <p:cNvCxnSpPr>
            <a:cxnSpLocks/>
            <a:stCxn id="3" idx="3"/>
            <a:endCxn id="33" idx="1"/>
          </p:cNvCxnSpPr>
          <p:nvPr/>
        </p:nvCxnSpPr>
        <p:spPr>
          <a:xfrm flipV="1">
            <a:off x="1274830" y="2317661"/>
            <a:ext cx="1090411" cy="5155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B7EAD85-710F-417E-B625-1B50DE849F51}"/>
              </a:ext>
            </a:extLst>
          </p:cNvPr>
          <p:cNvCxnSpPr>
            <a:cxnSpLocks/>
            <a:stCxn id="33" idx="2"/>
            <a:endCxn id="39" idx="1"/>
          </p:cNvCxnSpPr>
          <p:nvPr/>
        </p:nvCxnSpPr>
        <p:spPr>
          <a:xfrm rot="16200000" flipH="1">
            <a:off x="2197384" y="3212425"/>
            <a:ext cx="2191064" cy="96722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CD54D82-0658-4872-A645-F15AD76F6D86}"/>
              </a:ext>
            </a:extLst>
          </p:cNvPr>
          <p:cNvCxnSpPr>
            <a:stCxn id="19" idx="3"/>
            <a:endCxn id="39" idx="2"/>
          </p:cNvCxnSpPr>
          <p:nvPr/>
        </p:nvCxnSpPr>
        <p:spPr>
          <a:xfrm flipV="1">
            <a:off x="1398020" y="5074411"/>
            <a:ext cx="2822571" cy="4719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18A8BC3A-2980-4291-9565-C8D435B9F892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5934748" y="3269603"/>
            <a:ext cx="1837984" cy="1039445"/>
          </a:xfrm>
          <a:prstGeom prst="bentConnector3">
            <a:avLst>
              <a:gd name="adj1" fmla="val 27038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3BCFC55-2AE8-4A4B-AE7D-CB19839F8645}"/>
              </a:ext>
            </a:extLst>
          </p:cNvPr>
          <p:cNvCxnSpPr>
            <a:cxnSpLocks/>
            <a:stCxn id="39" idx="3"/>
            <a:endCxn id="7" idx="1"/>
          </p:cNvCxnSpPr>
          <p:nvPr/>
        </p:nvCxnSpPr>
        <p:spPr>
          <a:xfrm>
            <a:off x="4664655" y="4791568"/>
            <a:ext cx="2980394" cy="829639"/>
          </a:xfrm>
          <a:prstGeom prst="bentConnector3">
            <a:avLst>
              <a:gd name="adj1" fmla="val 31677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56BC5FE-57B5-43B3-9927-4F753E9684CA}"/>
              </a:ext>
            </a:extLst>
          </p:cNvPr>
          <p:cNvCxnSpPr>
            <a:cxnSpLocks/>
          </p:cNvCxnSpPr>
          <p:nvPr/>
        </p:nvCxnSpPr>
        <p:spPr>
          <a:xfrm>
            <a:off x="6688956" y="2085215"/>
            <a:ext cx="1046926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8EB0F6E8-E2AE-4BBF-AA01-8B8CA52254B6}"/>
              </a:ext>
            </a:extLst>
          </p:cNvPr>
          <p:cNvSpPr/>
          <p:nvPr/>
        </p:nvSpPr>
        <p:spPr>
          <a:xfrm>
            <a:off x="6884322" y="1974006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E14320F-8771-4BF7-825A-5616F2E5AD48}"/>
              </a:ext>
            </a:extLst>
          </p:cNvPr>
          <p:cNvSpPr/>
          <p:nvPr/>
        </p:nvSpPr>
        <p:spPr>
          <a:xfrm>
            <a:off x="5605727" y="1630182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F5A9FBA-B14B-437B-961E-163DC3F6133F}"/>
              </a:ext>
            </a:extLst>
          </p:cNvPr>
          <p:cNvSpPr/>
          <p:nvPr/>
        </p:nvSpPr>
        <p:spPr>
          <a:xfrm>
            <a:off x="4292875" y="315803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8C86559-B9FA-4D1C-A2FC-865C0687E89E}"/>
              </a:ext>
            </a:extLst>
          </p:cNvPr>
          <p:cNvSpPr/>
          <p:nvPr/>
        </p:nvSpPr>
        <p:spPr>
          <a:xfrm>
            <a:off x="6666889" y="4194859"/>
            <a:ext cx="223383" cy="22338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ADED87F-794A-4F69-A3C2-85ECBCFBE549}"/>
              </a:ext>
            </a:extLst>
          </p:cNvPr>
          <p:cNvSpPr/>
          <p:nvPr/>
        </p:nvSpPr>
        <p:spPr>
          <a:xfrm>
            <a:off x="2286792" y="543464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6F72ACF-4A7D-474E-8BFD-71683EC4AA87}"/>
              </a:ext>
            </a:extLst>
          </p:cNvPr>
          <p:cNvSpPr/>
          <p:nvPr/>
        </p:nvSpPr>
        <p:spPr>
          <a:xfrm>
            <a:off x="1611122" y="221112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Right Arrow 5">
            <a:extLst>
              <a:ext uri="{FF2B5EF4-FFF2-40B4-BE49-F238E27FC236}">
                <a16:creationId xmlns:a16="http://schemas.microsoft.com/office/drawing/2014/main" id="{3572AE99-F056-46CA-BB6E-59246A493B0F}"/>
              </a:ext>
            </a:extLst>
          </p:cNvPr>
          <p:cNvSpPr/>
          <p:nvPr/>
        </p:nvSpPr>
        <p:spPr>
          <a:xfrm>
            <a:off x="7699578" y="194022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1884791-D2AE-4A48-A196-65E241474235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7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537812" y="2177343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Arrow 5"/>
          <p:cNvSpPr/>
          <p:nvPr/>
        </p:nvSpPr>
        <p:spPr>
          <a:xfrm>
            <a:off x="7699578" y="1358717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ight Arrow 6"/>
          <p:cNvSpPr/>
          <p:nvPr/>
        </p:nvSpPr>
        <p:spPr>
          <a:xfrm>
            <a:off x="7645049" y="5475734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Straight Connector 12"/>
          <p:cNvCxnSpPr>
            <a:cxnSpLocks/>
            <a:endCxn id="6" idx="1"/>
          </p:cNvCxnSpPr>
          <p:nvPr/>
        </p:nvCxnSpPr>
        <p:spPr>
          <a:xfrm>
            <a:off x="6652652" y="1504190"/>
            <a:ext cx="1046926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39497" y="877352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1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7243396" y="5092637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4</a:t>
            </a:r>
            <a:endParaRPr lang="ru-RU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330765" y="1759895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1</a:t>
            </a: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Что такое баланс</a:t>
            </a:r>
          </a:p>
        </p:txBody>
      </p:sp>
      <p:sp>
        <p:nvSpPr>
          <p:cNvPr id="19" name="Right Arrow 2">
            <a:extLst>
              <a:ext uri="{FF2B5EF4-FFF2-40B4-BE49-F238E27FC236}">
                <a16:creationId xmlns:a16="http://schemas.microsoft.com/office/drawing/2014/main" id="{E6DC632D-A1E4-4DC0-B9DA-ABFB57395152}"/>
              </a:ext>
            </a:extLst>
          </p:cNvPr>
          <p:cNvSpPr/>
          <p:nvPr/>
        </p:nvSpPr>
        <p:spPr>
          <a:xfrm>
            <a:off x="661002" y="5400864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535A7-C115-415B-B5D4-07F31F4220D2}"/>
              </a:ext>
            </a:extLst>
          </p:cNvPr>
          <p:cNvSpPr txBox="1"/>
          <p:nvPr/>
        </p:nvSpPr>
        <p:spPr>
          <a:xfrm>
            <a:off x="418531" y="4949634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</a:t>
            </a:r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DB38D237-CB52-47E4-975A-68678200DF08}"/>
              </a:ext>
            </a:extLst>
          </p:cNvPr>
          <p:cNvSpPr/>
          <p:nvPr/>
        </p:nvSpPr>
        <p:spPr>
          <a:xfrm>
            <a:off x="6616349" y="1275115"/>
            <a:ext cx="72607" cy="94504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A4A19389-92EA-4C3E-B3E2-8A1231066023}"/>
              </a:ext>
            </a:extLst>
          </p:cNvPr>
          <p:cNvSpPr/>
          <p:nvPr/>
        </p:nvSpPr>
        <p:spPr>
          <a:xfrm>
            <a:off x="2365241" y="2034818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2C9382-6AC2-494B-81C5-C68E7B6FFE73}"/>
              </a:ext>
            </a:extLst>
          </p:cNvPr>
          <p:cNvSpPr txBox="1"/>
          <p:nvPr/>
        </p:nvSpPr>
        <p:spPr>
          <a:xfrm>
            <a:off x="7455998" y="2263063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889B5588-F272-49D4-BDCD-CF63BB6DA989}"/>
              </a:ext>
            </a:extLst>
          </p:cNvPr>
          <p:cNvSpPr/>
          <p:nvPr/>
        </p:nvSpPr>
        <p:spPr>
          <a:xfrm>
            <a:off x="3776527" y="4508725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5E71A85A-AB58-4EE8-BEA2-4EE58C94C019}"/>
              </a:ext>
            </a:extLst>
          </p:cNvPr>
          <p:cNvSpPr/>
          <p:nvPr/>
        </p:nvSpPr>
        <p:spPr>
          <a:xfrm>
            <a:off x="5046620" y="2986760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ight Arrow 6">
            <a:extLst>
              <a:ext uri="{FF2B5EF4-FFF2-40B4-BE49-F238E27FC236}">
                <a16:creationId xmlns:a16="http://schemas.microsoft.com/office/drawing/2014/main" id="{41E56741-EF74-46BE-8895-2AD3B20DD751}"/>
              </a:ext>
            </a:extLst>
          </p:cNvPr>
          <p:cNvSpPr/>
          <p:nvPr/>
        </p:nvSpPr>
        <p:spPr>
          <a:xfrm>
            <a:off x="7772732" y="416357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38B6AB-6827-4FFD-9B56-1F7B357D46A5}"/>
              </a:ext>
            </a:extLst>
          </p:cNvPr>
          <p:cNvSpPr txBox="1"/>
          <p:nvPr/>
        </p:nvSpPr>
        <p:spPr>
          <a:xfrm>
            <a:off x="7371079" y="3780478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3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FD4EE4C-5749-4398-BE66-53BC7B792553}"/>
              </a:ext>
            </a:extLst>
          </p:cNvPr>
          <p:cNvCxnSpPr>
            <a:cxnSpLocks/>
            <a:stCxn id="40" idx="0"/>
            <a:endCxn id="23" idx="1"/>
          </p:cNvCxnSpPr>
          <p:nvPr/>
        </p:nvCxnSpPr>
        <p:spPr>
          <a:xfrm rot="5400000" flipH="1" flipV="1">
            <a:off x="5433955" y="1804367"/>
            <a:ext cx="1239122" cy="1125665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9E5E130-D8B6-4E2A-A597-7ECF267C425C}"/>
              </a:ext>
            </a:extLst>
          </p:cNvPr>
          <p:cNvCxnSpPr>
            <a:stCxn id="33" idx="3"/>
            <a:endCxn id="40" idx="1"/>
          </p:cNvCxnSpPr>
          <p:nvPr/>
        </p:nvCxnSpPr>
        <p:spPr>
          <a:xfrm>
            <a:off x="3253369" y="2317661"/>
            <a:ext cx="1793251" cy="951942"/>
          </a:xfrm>
          <a:prstGeom prst="bentConnector3">
            <a:avLst>
              <a:gd name="adj1" fmla="val 25681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BD324AB-DE41-467E-8584-EC481D8F2714}"/>
              </a:ext>
            </a:extLst>
          </p:cNvPr>
          <p:cNvCxnSpPr>
            <a:cxnSpLocks/>
            <a:stCxn id="3" idx="3"/>
            <a:endCxn id="33" idx="1"/>
          </p:cNvCxnSpPr>
          <p:nvPr/>
        </p:nvCxnSpPr>
        <p:spPr>
          <a:xfrm flipV="1">
            <a:off x="1274830" y="2317661"/>
            <a:ext cx="1090411" cy="5155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B7EAD85-710F-417E-B625-1B50DE849F51}"/>
              </a:ext>
            </a:extLst>
          </p:cNvPr>
          <p:cNvCxnSpPr>
            <a:cxnSpLocks/>
            <a:stCxn id="33" idx="2"/>
            <a:endCxn id="39" idx="1"/>
          </p:cNvCxnSpPr>
          <p:nvPr/>
        </p:nvCxnSpPr>
        <p:spPr>
          <a:xfrm rot="16200000" flipH="1">
            <a:off x="2197384" y="3212425"/>
            <a:ext cx="2191064" cy="96722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CD54D82-0658-4872-A645-F15AD76F6D86}"/>
              </a:ext>
            </a:extLst>
          </p:cNvPr>
          <p:cNvCxnSpPr>
            <a:stCxn id="19" idx="3"/>
            <a:endCxn id="39" idx="2"/>
          </p:cNvCxnSpPr>
          <p:nvPr/>
        </p:nvCxnSpPr>
        <p:spPr>
          <a:xfrm flipV="1">
            <a:off x="1398020" y="5074411"/>
            <a:ext cx="2822571" cy="4719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18A8BC3A-2980-4291-9565-C8D435B9F892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5934748" y="3269603"/>
            <a:ext cx="1837984" cy="1039445"/>
          </a:xfrm>
          <a:prstGeom prst="bentConnector3">
            <a:avLst>
              <a:gd name="adj1" fmla="val 27038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3BCFC55-2AE8-4A4B-AE7D-CB19839F8645}"/>
              </a:ext>
            </a:extLst>
          </p:cNvPr>
          <p:cNvCxnSpPr>
            <a:cxnSpLocks/>
            <a:stCxn id="39" idx="3"/>
            <a:endCxn id="7" idx="1"/>
          </p:cNvCxnSpPr>
          <p:nvPr/>
        </p:nvCxnSpPr>
        <p:spPr>
          <a:xfrm>
            <a:off x="4664655" y="4791568"/>
            <a:ext cx="2980394" cy="829639"/>
          </a:xfrm>
          <a:prstGeom prst="bentConnector3">
            <a:avLst>
              <a:gd name="adj1" fmla="val 31677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56BC5FE-57B5-43B3-9927-4F753E9684CA}"/>
              </a:ext>
            </a:extLst>
          </p:cNvPr>
          <p:cNvCxnSpPr>
            <a:cxnSpLocks/>
          </p:cNvCxnSpPr>
          <p:nvPr/>
        </p:nvCxnSpPr>
        <p:spPr>
          <a:xfrm>
            <a:off x="6688956" y="2085215"/>
            <a:ext cx="1046926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8EB0F6E8-E2AE-4BBF-AA01-8B8CA52254B6}"/>
              </a:ext>
            </a:extLst>
          </p:cNvPr>
          <p:cNvSpPr/>
          <p:nvPr/>
        </p:nvSpPr>
        <p:spPr>
          <a:xfrm>
            <a:off x="6884322" y="1974006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E14320F-8771-4BF7-825A-5616F2E5AD48}"/>
              </a:ext>
            </a:extLst>
          </p:cNvPr>
          <p:cNvSpPr/>
          <p:nvPr/>
        </p:nvSpPr>
        <p:spPr>
          <a:xfrm>
            <a:off x="5605727" y="1630182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F5A9FBA-B14B-437B-961E-163DC3F6133F}"/>
              </a:ext>
            </a:extLst>
          </p:cNvPr>
          <p:cNvSpPr/>
          <p:nvPr/>
        </p:nvSpPr>
        <p:spPr>
          <a:xfrm>
            <a:off x="4292875" y="315803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8C86559-B9FA-4D1C-A2FC-865C0687E89E}"/>
              </a:ext>
            </a:extLst>
          </p:cNvPr>
          <p:cNvSpPr/>
          <p:nvPr/>
        </p:nvSpPr>
        <p:spPr>
          <a:xfrm>
            <a:off x="6666889" y="4194859"/>
            <a:ext cx="223383" cy="22338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ADED87F-794A-4F69-A3C2-85ECBCFBE549}"/>
              </a:ext>
            </a:extLst>
          </p:cNvPr>
          <p:cNvSpPr/>
          <p:nvPr/>
        </p:nvSpPr>
        <p:spPr>
          <a:xfrm>
            <a:off x="2286792" y="543464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6F72ACF-4A7D-474E-8BFD-71683EC4AA87}"/>
              </a:ext>
            </a:extLst>
          </p:cNvPr>
          <p:cNvSpPr/>
          <p:nvPr/>
        </p:nvSpPr>
        <p:spPr>
          <a:xfrm>
            <a:off x="1611122" y="221112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17053A5-37AE-419D-AAD6-BB4AA88A084F}"/>
              </a:ext>
            </a:extLst>
          </p:cNvPr>
          <p:cNvSpPr txBox="1"/>
          <p:nvPr/>
        </p:nvSpPr>
        <p:spPr>
          <a:xfrm>
            <a:off x="1733153" y="1917079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439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34F0BE-1FDB-43A7-B8FA-E5A55766B218}"/>
              </a:ext>
            </a:extLst>
          </p:cNvPr>
          <p:cNvSpPr txBox="1"/>
          <p:nvPr/>
        </p:nvSpPr>
        <p:spPr>
          <a:xfrm>
            <a:off x="2366100" y="5196598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77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03A6056-1062-4797-B4ED-48009504D1A3}"/>
              </a:ext>
            </a:extLst>
          </p:cNvPr>
          <p:cNvSpPr txBox="1"/>
          <p:nvPr/>
        </p:nvSpPr>
        <p:spPr>
          <a:xfrm>
            <a:off x="4379032" y="2884721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423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445CFF6-F150-4BEA-8932-5694DFE001CD}"/>
              </a:ext>
            </a:extLst>
          </p:cNvPr>
          <p:cNvSpPr txBox="1"/>
          <p:nvPr/>
        </p:nvSpPr>
        <p:spPr>
          <a:xfrm>
            <a:off x="5683371" y="1321777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68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F997907-B793-4122-A3B3-8E56D05668FC}"/>
              </a:ext>
            </a:extLst>
          </p:cNvPr>
          <p:cNvSpPr txBox="1"/>
          <p:nvPr/>
        </p:nvSpPr>
        <p:spPr>
          <a:xfrm>
            <a:off x="6682590" y="392373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350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E211BD2-6596-473A-B817-2BB3393BDFEC}"/>
              </a:ext>
            </a:extLst>
          </p:cNvPr>
          <p:cNvSpPr txBox="1"/>
          <p:nvPr/>
        </p:nvSpPr>
        <p:spPr>
          <a:xfrm>
            <a:off x="6960503" y="1737067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51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6" name="Right Arrow 5">
            <a:extLst>
              <a:ext uri="{FF2B5EF4-FFF2-40B4-BE49-F238E27FC236}">
                <a16:creationId xmlns:a16="http://schemas.microsoft.com/office/drawing/2014/main" id="{3572AE99-F056-46CA-BB6E-59246A493B0F}"/>
              </a:ext>
            </a:extLst>
          </p:cNvPr>
          <p:cNvSpPr/>
          <p:nvPr/>
        </p:nvSpPr>
        <p:spPr>
          <a:xfrm>
            <a:off x="7699578" y="194022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B58683-4C80-4EC7-9F6F-2F898E30223C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797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537812" y="2177343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ight Arrow 5"/>
          <p:cNvSpPr/>
          <p:nvPr/>
        </p:nvSpPr>
        <p:spPr>
          <a:xfrm>
            <a:off x="7699578" y="1358717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ight Arrow 6"/>
          <p:cNvSpPr/>
          <p:nvPr/>
        </p:nvSpPr>
        <p:spPr>
          <a:xfrm>
            <a:off x="7645049" y="5475734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Straight Connector 12"/>
          <p:cNvCxnSpPr>
            <a:cxnSpLocks/>
            <a:endCxn id="6" idx="1"/>
          </p:cNvCxnSpPr>
          <p:nvPr/>
        </p:nvCxnSpPr>
        <p:spPr>
          <a:xfrm>
            <a:off x="6652652" y="1504190"/>
            <a:ext cx="1046926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39497" y="877352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1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7243396" y="5092637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4</a:t>
            </a:r>
            <a:endParaRPr lang="ru-RU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330765" y="1759895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1</a:t>
            </a: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Что такое баланс</a:t>
            </a:r>
          </a:p>
        </p:txBody>
      </p:sp>
      <p:sp>
        <p:nvSpPr>
          <p:cNvPr id="19" name="Right Arrow 2">
            <a:extLst>
              <a:ext uri="{FF2B5EF4-FFF2-40B4-BE49-F238E27FC236}">
                <a16:creationId xmlns:a16="http://schemas.microsoft.com/office/drawing/2014/main" id="{E6DC632D-A1E4-4DC0-B9DA-ABFB57395152}"/>
              </a:ext>
            </a:extLst>
          </p:cNvPr>
          <p:cNvSpPr/>
          <p:nvPr/>
        </p:nvSpPr>
        <p:spPr>
          <a:xfrm>
            <a:off x="661002" y="5400864"/>
            <a:ext cx="737018" cy="29094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535A7-C115-415B-B5D4-07F31F4220D2}"/>
              </a:ext>
            </a:extLst>
          </p:cNvPr>
          <p:cNvSpPr txBox="1"/>
          <p:nvPr/>
        </p:nvSpPr>
        <p:spPr>
          <a:xfrm>
            <a:off x="418531" y="4949634"/>
            <a:ext cx="1392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Источник </a:t>
            </a:r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DB38D237-CB52-47E4-975A-68678200DF08}"/>
              </a:ext>
            </a:extLst>
          </p:cNvPr>
          <p:cNvSpPr/>
          <p:nvPr/>
        </p:nvSpPr>
        <p:spPr>
          <a:xfrm>
            <a:off x="6616349" y="1275115"/>
            <a:ext cx="72607" cy="94504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A4A19389-92EA-4C3E-B3E2-8A1231066023}"/>
              </a:ext>
            </a:extLst>
          </p:cNvPr>
          <p:cNvSpPr/>
          <p:nvPr/>
        </p:nvSpPr>
        <p:spPr>
          <a:xfrm>
            <a:off x="2365241" y="2034818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2C9382-6AC2-494B-81C5-C68E7B6FFE73}"/>
              </a:ext>
            </a:extLst>
          </p:cNvPr>
          <p:cNvSpPr txBox="1"/>
          <p:nvPr/>
        </p:nvSpPr>
        <p:spPr>
          <a:xfrm>
            <a:off x="7455998" y="2263063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</a:t>
            </a:r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889B5588-F272-49D4-BDCD-CF63BB6DA989}"/>
              </a:ext>
            </a:extLst>
          </p:cNvPr>
          <p:cNvSpPr/>
          <p:nvPr/>
        </p:nvSpPr>
        <p:spPr>
          <a:xfrm>
            <a:off x="3776527" y="4508725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5E71A85A-AB58-4EE8-BEA2-4EE58C94C019}"/>
              </a:ext>
            </a:extLst>
          </p:cNvPr>
          <p:cNvSpPr/>
          <p:nvPr/>
        </p:nvSpPr>
        <p:spPr>
          <a:xfrm>
            <a:off x="5046620" y="2986760"/>
            <a:ext cx="888128" cy="565686"/>
          </a:xfrm>
          <a:prstGeom prst="round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1">
            <a:schemeClr val="dk1"/>
          </a:lnRef>
          <a:fillRef idx="1001">
            <a:schemeClr val="lt2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ight Arrow 6">
            <a:extLst>
              <a:ext uri="{FF2B5EF4-FFF2-40B4-BE49-F238E27FC236}">
                <a16:creationId xmlns:a16="http://schemas.microsoft.com/office/drawing/2014/main" id="{41E56741-EF74-46BE-8895-2AD3B20DD751}"/>
              </a:ext>
            </a:extLst>
          </p:cNvPr>
          <p:cNvSpPr/>
          <p:nvPr/>
        </p:nvSpPr>
        <p:spPr>
          <a:xfrm>
            <a:off x="7772732" y="416357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38B6AB-6827-4FFD-9B56-1F7B357D46A5}"/>
              </a:ext>
            </a:extLst>
          </p:cNvPr>
          <p:cNvSpPr txBox="1"/>
          <p:nvPr/>
        </p:nvSpPr>
        <p:spPr>
          <a:xfrm>
            <a:off x="7371079" y="3780478"/>
            <a:ext cx="1772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Потребитель 3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FD4EE4C-5749-4398-BE66-53BC7B792553}"/>
              </a:ext>
            </a:extLst>
          </p:cNvPr>
          <p:cNvCxnSpPr>
            <a:cxnSpLocks/>
            <a:stCxn id="40" idx="0"/>
            <a:endCxn id="23" idx="1"/>
          </p:cNvCxnSpPr>
          <p:nvPr/>
        </p:nvCxnSpPr>
        <p:spPr>
          <a:xfrm rot="5400000" flipH="1" flipV="1">
            <a:off x="5433955" y="1804367"/>
            <a:ext cx="1239122" cy="1125665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9E5E130-D8B6-4E2A-A597-7ECF267C425C}"/>
              </a:ext>
            </a:extLst>
          </p:cNvPr>
          <p:cNvCxnSpPr>
            <a:stCxn id="33" idx="3"/>
            <a:endCxn id="40" idx="1"/>
          </p:cNvCxnSpPr>
          <p:nvPr/>
        </p:nvCxnSpPr>
        <p:spPr>
          <a:xfrm>
            <a:off x="3253369" y="2317661"/>
            <a:ext cx="1793251" cy="951942"/>
          </a:xfrm>
          <a:prstGeom prst="bentConnector3">
            <a:avLst>
              <a:gd name="adj1" fmla="val 25681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BD324AB-DE41-467E-8584-EC481D8F2714}"/>
              </a:ext>
            </a:extLst>
          </p:cNvPr>
          <p:cNvCxnSpPr>
            <a:cxnSpLocks/>
            <a:stCxn id="3" idx="3"/>
            <a:endCxn id="33" idx="1"/>
          </p:cNvCxnSpPr>
          <p:nvPr/>
        </p:nvCxnSpPr>
        <p:spPr>
          <a:xfrm flipV="1">
            <a:off x="1274830" y="2317661"/>
            <a:ext cx="1090411" cy="5155"/>
          </a:xfrm>
          <a:prstGeom prst="bent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B7EAD85-710F-417E-B625-1B50DE849F51}"/>
              </a:ext>
            </a:extLst>
          </p:cNvPr>
          <p:cNvCxnSpPr>
            <a:cxnSpLocks/>
            <a:stCxn id="33" idx="2"/>
            <a:endCxn id="39" idx="1"/>
          </p:cNvCxnSpPr>
          <p:nvPr/>
        </p:nvCxnSpPr>
        <p:spPr>
          <a:xfrm rot="16200000" flipH="1">
            <a:off x="2197384" y="3212425"/>
            <a:ext cx="2191064" cy="967222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CD54D82-0658-4872-A645-F15AD76F6D86}"/>
              </a:ext>
            </a:extLst>
          </p:cNvPr>
          <p:cNvCxnSpPr>
            <a:stCxn id="19" idx="3"/>
            <a:endCxn id="39" idx="2"/>
          </p:cNvCxnSpPr>
          <p:nvPr/>
        </p:nvCxnSpPr>
        <p:spPr>
          <a:xfrm flipV="1">
            <a:off x="1398020" y="5074411"/>
            <a:ext cx="2822571" cy="471926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18A8BC3A-2980-4291-9565-C8D435B9F892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5934748" y="3269603"/>
            <a:ext cx="1837984" cy="1039445"/>
          </a:xfrm>
          <a:prstGeom prst="bentConnector3">
            <a:avLst>
              <a:gd name="adj1" fmla="val 27038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3BCFC55-2AE8-4A4B-AE7D-CB19839F8645}"/>
              </a:ext>
            </a:extLst>
          </p:cNvPr>
          <p:cNvCxnSpPr>
            <a:cxnSpLocks/>
            <a:stCxn id="39" idx="3"/>
            <a:endCxn id="7" idx="1"/>
          </p:cNvCxnSpPr>
          <p:nvPr/>
        </p:nvCxnSpPr>
        <p:spPr>
          <a:xfrm>
            <a:off x="4664655" y="4791568"/>
            <a:ext cx="2980394" cy="829639"/>
          </a:xfrm>
          <a:prstGeom prst="bentConnector3">
            <a:avLst>
              <a:gd name="adj1" fmla="val 31677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56BC5FE-57B5-43B3-9927-4F753E9684CA}"/>
              </a:ext>
            </a:extLst>
          </p:cNvPr>
          <p:cNvCxnSpPr>
            <a:cxnSpLocks/>
          </p:cNvCxnSpPr>
          <p:nvPr/>
        </p:nvCxnSpPr>
        <p:spPr>
          <a:xfrm>
            <a:off x="6688956" y="2085215"/>
            <a:ext cx="1046926" cy="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8EB0F6E8-E2AE-4BBF-AA01-8B8CA52254B6}"/>
              </a:ext>
            </a:extLst>
          </p:cNvPr>
          <p:cNvSpPr/>
          <p:nvPr/>
        </p:nvSpPr>
        <p:spPr>
          <a:xfrm>
            <a:off x="6884322" y="1974006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E14320F-8771-4BF7-825A-5616F2E5AD48}"/>
              </a:ext>
            </a:extLst>
          </p:cNvPr>
          <p:cNvSpPr/>
          <p:nvPr/>
        </p:nvSpPr>
        <p:spPr>
          <a:xfrm>
            <a:off x="5605727" y="1630182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F5A9FBA-B14B-437B-961E-163DC3F6133F}"/>
              </a:ext>
            </a:extLst>
          </p:cNvPr>
          <p:cNvSpPr/>
          <p:nvPr/>
        </p:nvSpPr>
        <p:spPr>
          <a:xfrm>
            <a:off x="4292875" y="315803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8C86559-B9FA-4D1C-A2FC-865C0687E89E}"/>
              </a:ext>
            </a:extLst>
          </p:cNvPr>
          <p:cNvSpPr/>
          <p:nvPr/>
        </p:nvSpPr>
        <p:spPr>
          <a:xfrm>
            <a:off x="6666889" y="4194859"/>
            <a:ext cx="223383" cy="22338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ADED87F-794A-4F69-A3C2-85ECBCFBE549}"/>
              </a:ext>
            </a:extLst>
          </p:cNvPr>
          <p:cNvSpPr/>
          <p:nvPr/>
        </p:nvSpPr>
        <p:spPr>
          <a:xfrm>
            <a:off x="2286792" y="543464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6F72ACF-4A7D-474E-8BFD-71683EC4AA87}"/>
              </a:ext>
            </a:extLst>
          </p:cNvPr>
          <p:cNvSpPr/>
          <p:nvPr/>
        </p:nvSpPr>
        <p:spPr>
          <a:xfrm>
            <a:off x="1611122" y="2211125"/>
            <a:ext cx="223383" cy="22338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17053A5-37AE-419D-AAD6-BB4AA88A084F}"/>
              </a:ext>
            </a:extLst>
          </p:cNvPr>
          <p:cNvSpPr txBox="1"/>
          <p:nvPr/>
        </p:nvSpPr>
        <p:spPr>
          <a:xfrm>
            <a:off x="1733153" y="1917079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439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CE12EE9-C0E2-48AC-8411-867DBC734E4E}"/>
              </a:ext>
            </a:extLst>
          </p:cNvPr>
          <p:cNvSpPr txBox="1"/>
          <p:nvPr/>
        </p:nvSpPr>
        <p:spPr>
          <a:xfrm>
            <a:off x="1718893" y="2329469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450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34F0BE-1FDB-43A7-B8FA-E5A55766B218}"/>
              </a:ext>
            </a:extLst>
          </p:cNvPr>
          <p:cNvSpPr txBox="1"/>
          <p:nvPr/>
        </p:nvSpPr>
        <p:spPr>
          <a:xfrm>
            <a:off x="2366100" y="5196598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77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8079F02-4F14-47DF-BFFF-087495F338D5}"/>
              </a:ext>
            </a:extLst>
          </p:cNvPr>
          <p:cNvSpPr txBox="1"/>
          <p:nvPr/>
        </p:nvSpPr>
        <p:spPr>
          <a:xfrm>
            <a:off x="2384231" y="5537239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80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03A6056-1062-4797-B4ED-48009504D1A3}"/>
              </a:ext>
            </a:extLst>
          </p:cNvPr>
          <p:cNvSpPr txBox="1"/>
          <p:nvPr/>
        </p:nvSpPr>
        <p:spPr>
          <a:xfrm>
            <a:off x="4379032" y="2884721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423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A497559-1A54-4195-A2BE-F2B0E5A52A69}"/>
              </a:ext>
            </a:extLst>
          </p:cNvPr>
          <p:cNvSpPr txBox="1"/>
          <p:nvPr/>
        </p:nvSpPr>
        <p:spPr>
          <a:xfrm>
            <a:off x="4379032" y="328500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420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445CFF6-F150-4BEA-8932-5694DFE001CD}"/>
              </a:ext>
            </a:extLst>
          </p:cNvPr>
          <p:cNvSpPr txBox="1"/>
          <p:nvPr/>
        </p:nvSpPr>
        <p:spPr>
          <a:xfrm>
            <a:off x="5683371" y="1321777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68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D1FB014-1D6C-428E-8DDC-C95B49854D7E}"/>
              </a:ext>
            </a:extLst>
          </p:cNvPr>
          <p:cNvSpPr txBox="1"/>
          <p:nvPr/>
        </p:nvSpPr>
        <p:spPr>
          <a:xfrm>
            <a:off x="5683371" y="1820535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70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F997907-B793-4122-A3B3-8E56D05668FC}"/>
              </a:ext>
            </a:extLst>
          </p:cNvPr>
          <p:cNvSpPr txBox="1"/>
          <p:nvPr/>
        </p:nvSpPr>
        <p:spPr>
          <a:xfrm>
            <a:off x="6682590" y="392373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350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25FA3A-05EC-46A6-9765-70C8FA0AD862}"/>
              </a:ext>
            </a:extLst>
          </p:cNvPr>
          <p:cNvSpPr txBox="1"/>
          <p:nvPr/>
        </p:nvSpPr>
        <p:spPr>
          <a:xfrm>
            <a:off x="6688956" y="4323843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350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E211BD2-6596-473A-B817-2BB3393BDFEC}"/>
              </a:ext>
            </a:extLst>
          </p:cNvPr>
          <p:cNvSpPr txBox="1"/>
          <p:nvPr/>
        </p:nvSpPr>
        <p:spPr>
          <a:xfrm>
            <a:off x="6960503" y="1737067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51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5FE7F53-55F0-4FBF-B629-98CBF8AA04CE}"/>
              </a:ext>
            </a:extLst>
          </p:cNvPr>
          <p:cNvSpPr txBox="1"/>
          <p:nvPr/>
        </p:nvSpPr>
        <p:spPr>
          <a:xfrm>
            <a:off x="6960503" y="2095422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BFDFEBD-8AA2-4FBE-8827-AEBE2E5A92C3}"/>
              </a:ext>
            </a:extLst>
          </p:cNvPr>
          <p:cNvSpPr txBox="1"/>
          <p:nvPr/>
        </p:nvSpPr>
        <p:spPr>
          <a:xfrm>
            <a:off x="6640803" y="5616572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110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BF5470B-B778-4458-ABAB-A1176B9A228D}"/>
              </a:ext>
            </a:extLst>
          </p:cNvPr>
          <p:cNvSpPr txBox="1"/>
          <p:nvPr/>
        </p:nvSpPr>
        <p:spPr>
          <a:xfrm>
            <a:off x="2923589" y="4751827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91F4004-2CF4-4617-9BE8-7DED5C5DEAD1}"/>
              </a:ext>
            </a:extLst>
          </p:cNvPr>
          <p:cNvSpPr txBox="1"/>
          <p:nvPr/>
        </p:nvSpPr>
        <p:spPr>
          <a:xfrm>
            <a:off x="6958487" y="1464717"/>
            <a:ext cx="69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20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36" name="Right Arrow 5">
            <a:extLst>
              <a:ext uri="{FF2B5EF4-FFF2-40B4-BE49-F238E27FC236}">
                <a16:creationId xmlns:a16="http://schemas.microsoft.com/office/drawing/2014/main" id="{3572AE99-F056-46CA-BB6E-59246A493B0F}"/>
              </a:ext>
            </a:extLst>
          </p:cNvPr>
          <p:cNvSpPr/>
          <p:nvPr/>
        </p:nvSpPr>
        <p:spPr>
          <a:xfrm>
            <a:off x="7699578" y="1940225"/>
            <a:ext cx="737018" cy="29094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7F22B6B4-2C57-4C3C-BE30-5D8DA0D11EE0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Процесс сведения баланса</a:t>
            </a:r>
          </a:p>
        </p:txBody>
      </p:sp>
      <p:sp>
        <p:nvSpPr>
          <p:cNvPr id="4" name="Rounded Rectangle 27"/>
          <p:cNvSpPr/>
          <p:nvPr/>
        </p:nvSpPr>
        <p:spPr>
          <a:xfrm>
            <a:off x="346304" y="1634836"/>
            <a:ext cx="8524417" cy="40455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dirty="0"/>
              <a:t>Традиционно процесс сведения материального баланса требует значительное время и зачастую сопровождается появлением неточностей и ошибок. </a:t>
            </a:r>
          </a:p>
          <a:p>
            <a:r>
              <a:rPr lang="ru-RU" sz="2000" dirty="0"/>
              <a:t>Сведение баланса существенно затрудняется по следующим причинам: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Возрастающая сложность расчетов</a:t>
            </a:r>
            <a:r>
              <a:rPr lang="en-US" sz="2000" dirty="0"/>
              <a:t>;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Отсутствие оперативного получения информации о работе установок</a:t>
            </a:r>
            <a:r>
              <a:rPr lang="en-US" sz="2000" dirty="0"/>
              <a:t>;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Наличие ошибок в измерениях</a:t>
            </a:r>
            <a:r>
              <a:rPr lang="en-US" sz="2000" dirty="0"/>
              <a:t>;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Наличие </a:t>
            </a:r>
            <a:r>
              <a:rPr lang="ru-RU" sz="2000" dirty="0" err="1"/>
              <a:t>неизмеряемых</a:t>
            </a:r>
            <a:r>
              <a:rPr lang="ru-RU" sz="2000" dirty="0"/>
              <a:t> потоков и запасов продуктов</a:t>
            </a:r>
            <a:r>
              <a:rPr lang="en-US" sz="2000" dirty="0"/>
              <a:t>;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Наличие сверхнормативных потерь в процессе производства</a:t>
            </a:r>
            <a:r>
              <a:rPr lang="en-US" sz="2000" dirty="0"/>
              <a:t>;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Устаревшие пользовательские интерфейсы</a:t>
            </a:r>
            <a:r>
              <a:rPr lang="en-US" sz="2000" dirty="0"/>
              <a:t>;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Ощутимое влияние человеческого фактора на результат расчетов</a:t>
            </a:r>
            <a:r>
              <a:rPr lang="en-US" sz="2000" dirty="0"/>
              <a:t>;</a:t>
            </a:r>
            <a:endParaRPr lang="ru-RU" sz="2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6B20A3-D095-462B-A458-96804CA52A16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248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 bwMode="auto">
          <a:xfrm>
            <a:off x="340474" y="1942652"/>
            <a:ext cx="1181240" cy="532660"/>
          </a:xfrm>
          <a:prstGeom prst="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tx1"/>
                </a:solidFill>
              </a:rPr>
              <a:t>АСУТП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6" name="Прямоугольник 85"/>
          <p:cNvSpPr/>
          <p:nvPr/>
        </p:nvSpPr>
        <p:spPr bwMode="auto">
          <a:xfrm>
            <a:off x="1767540" y="1207132"/>
            <a:ext cx="3416868" cy="2916730"/>
          </a:xfrm>
          <a:prstGeom prst="rect">
            <a:avLst/>
          </a:prstGeom>
          <a:noFill/>
          <a:ln>
            <a:solidFill>
              <a:srgbClr val="A6AA1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tx1"/>
                </a:solidFill>
              </a:rPr>
              <a:t>Исходные данные для сведения балансов</a:t>
            </a:r>
            <a:endParaRPr kumimoji="0" 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4" name="Овал 13"/>
          <p:cNvSpPr/>
          <p:nvPr/>
        </p:nvSpPr>
        <p:spPr bwMode="auto">
          <a:xfrm>
            <a:off x="6637842" y="3592830"/>
            <a:ext cx="2445231" cy="1052737"/>
          </a:xfrm>
          <a:prstGeom prst="ellipse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Сведение суточных балансов</a:t>
            </a:r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Ручной</a:t>
            </a:r>
            <a:r>
              <a:rPr kumimoji="0" lang="ru-RU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ввод)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340474" y="3110970"/>
            <a:ext cx="1203622" cy="532660"/>
          </a:xfrm>
          <a:prstGeom prst="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</a:rPr>
              <a:t>OIS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323181" y="3887311"/>
            <a:ext cx="1235827" cy="532660"/>
          </a:xfrm>
          <a:prstGeom prst="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tx1"/>
                </a:solidFill>
              </a:rPr>
              <a:t>Лаборатории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 bwMode="auto">
          <a:xfrm>
            <a:off x="3331041" y="3396844"/>
            <a:ext cx="1837611" cy="610001"/>
          </a:xfrm>
          <a:prstGeom prst="round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Суточные сводки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(Ручной</a:t>
            </a:r>
            <a:r>
              <a:rPr kumimoji="0" lang="ru-RU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ввод, </a:t>
            </a:r>
            <a:r>
              <a:rPr kumimoji="0" lang="en-US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Excel)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cxnSp>
        <p:nvCxnSpPr>
          <p:cNvPr id="61" name="Скругленная соединительная линия 60"/>
          <p:cNvCxnSpPr>
            <a:stCxn id="40" idx="3"/>
            <a:endCxn id="56" idx="2"/>
          </p:cNvCxnSpPr>
          <p:nvPr/>
        </p:nvCxnSpPr>
        <p:spPr bwMode="auto">
          <a:xfrm flipV="1">
            <a:off x="5168652" y="2546375"/>
            <a:ext cx="1683317" cy="115547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4" name="Скругленный прямоугольник 73"/>
          <p:cNvSpPr/>
          <p:nvPr/>
        </p:nvSpPr>
        <p:spPr bwMode="auto">
          <a:xfrm>
            <a:off x="2240166" y="1936374"/>
            <a:ext cx="1955586" cy="610001"/>
          </a:xfrm>
          <a:prstGeom prst="round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Отчеты</a:t>
            </a:r>
            <a:r>
              <a:rPr lang="ru-RU" sz="1400" b="1" dirty="0">
                <a:solidFill>
                  <a:srgbClr val="FF0000"/>
                </a:solidFill>
              </a:rPr>
              <a:t> </a:t>
            </a:r>
            <a:r>
              <a:rPr lang="ru-RU" sz="1400" b="1" dirty="0">
                <a:solidFill>
                  <a:schemeClr val="tx1"/>
                </a:solidFill>
              </a:rPr>
              <a:t>(Ручной ввод, </a:t>
            </a:r>
            <a:r>
              <a:rPr lang="en-US" sz="1400" b="1" dirty="0">
                <a:solidFill>
                  <a:schemeClr val="tx1"/>
                </a:solidFill>
              </a:rPr>
              <a:t>Excel)</a:t>
            </a:r>
            <a:endParaRPr lang="ru-RU" sz="1400" b="1" dirty="0" err="1">
              <a:solidFill>
                <a:schemeClr val="tx1"/>
              </a:solidFill>
            </a:endParaRPr>
          </a:p>
        </p:txBody>
      </p:sp>
      <p:cxnSp>
        <p:nvCxnSpPr>
          <p:cNvPr id="32" name="Скругленная соединительная линия 31"/>
          <p:cNvCxnSpPr>
            <a:stCxn id="13" idx="3"/>
          </p:cNvCxnSpPr>
          <p:nvPr/>
        </p:nvCxnSpPr>
        <p:spPr bwMode="auto">
          <a:xfrm>
            <a:off x="1521714" y="2208982"/>
            <a:ext cx="718452" cy="1657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Скругленная соединительная линия 36"/>
          <p:cNvCxnSpPr>
            <a:stCxn id="15" idx="3"/>
            <a:endCxn id="74" idx="2"/>
          </p:cNvCxnSpPr>
          <p:nvPr/>
        </p:nvCxnSpPr>
        <p:spPr bwMode="auto">
          <a:xfrm flipV="1">
            <a:off x="1544096" y="2546375"/>
            <a:ext cx="1673863" cy="830925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Скругленная соединительная линия 66"/>
          <p:cNvCxnSpPr>
            <a:stCxn id="14" idx="4"/>
            <a:endCxn id="82" idx="0"/>
          </p:cNvCxnSpPr>
          <p:nvPr/>
        </p:nvCxnSpPr>
        <p:spPr bwMode="auto">
          <a:xfrm rot="5400000">
            <a:off x="7464729" y="5041296"/>
            <a:ext cx="791459" cy="1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8" name="Скругленная соединительная линия 67"/>
          <p:cNvCxnSpPr>
            <a:stCxn id="74" idx="3"/>
            <a:endCxn id="56" idx="1"/>
          </p:cNvCxnSpPr>
          <p:nvPr/>
        </p:nvCxnSpPr>
        <p:spPr bwMode="auto">
          <a:xfrm>
            <a:off x="4195752" y="2241375"/>
            <a:ext cx="1472283" cy="127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2" name="Скругленный прямоугольник 81"/>
          <p:cNvSpPr/>
          <p:nvPr/>
        </p:nvSpPr>
        <p:spPr bwMode="auto">
          <a:xfrm>
            <a:off x="6922198" y="5437026"/>
            <a:ext cx="1876517" cy="610001"/>
          </a:xfrm>
          <a:prstGeom prst="round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tx1"/>
                </a:solidFill>
              </a:rPr>
              <a:t>Производственные отчеты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6" name="Скругленный прямоугольник 55"/>
          <p:cNvSpPr/>
          <p:nvPr/>
        </p:nvSpPr>
        <p:spPr bwMode="auto">
          <a:xfrm>
            <a:off x="5668035" y="1936374"/>
            <a:ext cx="2367867" cy="610001"/>
          </a:xfrm>
          <a:prstGeom prst="round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Шаблоны балансов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(Ручной</a:t>
            </a:r>
            <a:r>
              <a:rPr kumimoji="0" lang="ru-RU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ввод, </a:t>
            </a:r>
            <a:r>
              <a:rPr kumimoji="0" lang="en-US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Excel)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cxnSp>
        <p:nvCxnSpPr>
          <p:cNvPr id="72" name="Скругленная соединительная линия 71"/>
          <p:cNvCxnSpPr>
            <a:stCxn id="56" idx="3"/>
            <a:endCxn id="14" idx="0"/>
          </p:cNvCxnSpPr>
          <p:nvPr/>
        </p:nvCxnSpPr>
        <p:spPr bwMode="auto">
          <a:xfrm flipH="1">
            <a:off x="7860458" y="2241375"/>
            <a:ext cx="175444" cy="1351455"/>
          </a:xfrm>
          <a:prstGeom prst="curvedConnector4">
            <a:avLst>
              <a:gd name="adj1" fmla="val -130298"/>
              <a:gd name="adj2" fmla="val 61284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7" name="Скругленный прямоугольник 96"/>
          <p:cNvSpPr/>
          <p:nvPr/>
        </p:nvSpPr>
        <p:spPr bwMode="auto">
          <a:xfrm>
            <a:off x="2631201" y="5512731"/>
            <a:ext cx="1977312" cy="510749"/>
          </a:xfrm>
          <a:prstGeom prst="round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solidFill>
                  <a:schemeClr val="tx1"/>
                </a:solidFill>
              </a:rPr>
              <a:t>ERP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cxnSp>
        <p:nvCxnSpPr>
          <p:cNvPr id="108" name="Скругленная соединительная линия 107"/>
          <p:cNvCxnSpPr>
            <a:stCxn id="97" idx="0"/>
            <a:endCxn id="40" idx="2"/>
          </p:cNvCxnSpPr>
          <p:nvPr/>
        </p:nvCxnSpPr>
        <p:spPr bwMode="auto">
          <a:xfrm rot="5400000" flipH="1" flipV="1">
            <a:off x="3181909" y="4444793"/>
            <a:ext cx="1505886" cy="62999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015" y="2283671"/>
            <a:ext cx="583618" cy="58361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63" y="2489387"/>
            <a:ext cx="583618" cy="5836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778" y="1650639"/>
            <a:ext cx="589079" cy="58907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919" y="2318958"/>
            <a:ext cx="416477" cy="41647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508" y="2444887"/>
            <a:ext cx="416477" cy="41647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4" y="2562606"/>
            <a:ext cx="416477" cy="41647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1" y="2562606"/>
            <a:ext cx="416477" cy="41647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491" y="2864766"/>
            <a:ext cx="416477" cy="41647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681" y="2595396"/>
            <a:ext cx="589079" cy="58907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854" y="4730168"/>
            <a:ext cx="589079" cy="58907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07" y="4902770"/>
            <a:ext cx="416477" cy="41647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864" y="4792492"/>
            <a:ext cx="416477" cy="41647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010" y="2612951"/>
            <a:ext cx="416477" cy="41647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599" y="4199522"/>
            <a:ext cx="416477" cy="41647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223" y="4018960"/>
            <a:ext cx="589079" cy="589079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77" y="4533252"/>
            <a:ext cx="589079" cy="589079"/>
          </a:xfrm>
          <a:prstGeom prst="rect">
            <a:avLst/>
          </a:prstGeom>
        </p:spPr>
      </p:pic>
      <p:sp>
        <p:nvSpPr>
          <p:cNvPr id="45" name="Скругленный прямоугольник 4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Полуавтоматическое сведение баланса</a:t>
            </a:r>
          </a:p>
        </p:txBody>
      </p:sp>
      <p:cxnSp>
        <p:nvCxnSpPr>
          <p:cNvPr id="76" name="Скругленная соединительная линия 31"/>
          <p:cNvCxnSpPr>
            <a:stCxn id="16" idx="3"/>
            <a:endCxn id="40" idx="1"/>
          </p:cNvCxnSpPr>
          <p:nvPr/>
        </p:nvCxnSpPr>
        <p:spPr bwMode="auto">
          <a:xfrm flipV="1">
            <a:off x="1559008" y="3701845"/>
            <a:ext cx="1772033" cy="451796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0" name="Picture 7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836" y="2683955"/>
            <a:ext cx="416477" cy="416477"/>
          </a:xfrm>
          <a:prstGeom prst="rect">
            <a:avLst/>
          </a:prstGeom>
        </p:spPr>
      </p:pic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75B53EF-C9A1-4A19-A758-824C5CC09406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944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Цели автоматизации сведения баланса</a:t>
            </a:r>
          </a:p>
        </p:txBody>
      </p:sp>
      <p:sp>
        <p:nvSpPr>
          <p:cNvPr id="6" name="Rounded Rectangle 27"/>
          <p:cNvSpPr/>
          <p:nvPr/>
        </p:nvSpPr>
        <p:spPr>
          <a:xfrm>
            <a:off x="328637" y="1284513"/>
            <a:ext cx="8629601" cy="16981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ru-RU" b="1" dirty="0"/>
              <a:t>Эффективный мониторинг производства</a:t>
            </a:r>
            <a:endParaRPr lang="en-US" b="1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Вычисление и верификация производительности, запасов и балансов установок на регулярной основе</a:t>
            </a:r>
            <a:endParaRPr lang="en-US" sz="2000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Представление достоверных данных менеджменту, в финансовые системы и др.</a:t>
            </a:r>
            <a:r>
              <a:rPr lang="en-US" sz="2000" dirty="0"/>
              <a:t> </a:t>
            </a:r>
            <a:endParaRPr lang="ru-RU" sz="2000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Интеграция с другими приложениями оперативного управления</a:t>
            </a:r>
            <a:endParaRPr lang="en-US" sz="2000" dirty="0"/>
          </a:p>
        </p:txBody>
      </p:sp>
      <p:sp>
        <p:nvSpPr>
          <p:cNvPr id="7" name="Rounded Rectangle 27"/>
          <p:cNvSpPr/>
          <p:nvPr/>
        </p:nvSpPr>
        <p:spPr>
          <a:xfrm>
            <a:off x="328637" y="3238248"/>
            <a:ext cx="8629601" cy="10724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ru-RU" b="1" dirty="0"/>
              <a:t>Минимизация неопределенности в процессе принятия решений</a:t>
            </a:r>
            <a:endParaRPr lang="en-US" b="1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Знания об истинном состоянии производства и запасов</a:t>
            </a:r>
            <a:endParaRPr lang="en-US" sz="2000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Увеличение точности планирования и анализа</a:t>
            </a:r>
            <a:endParaRPr lang="en-US" sz="2000" dirty="0"/>
          </a:p>
        </p:txBody>
      </p:sp>
      <p:sp>
        <p:nvSpPr>
          <p:cNvPr id="8" name="Rounded Rectangle 27"/>
          <p:cNvSpPr/>
          <p:nvPr/>
        </p:nvSpPr>
        <p:spPr>
          <a:xfrm>
            <a:off x="328637" y="4566306"/>
            <a:ext cx="8629601" cy="13990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ru-RU" b="1" dirty="0"/>
              <a:t>Лучшая идентификация истинных и мнимых потерь</a:t>
            </a:r>
            <a:endParaRPr lang="en-US" b="1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Идентификация и отделение реальных потерь от ошибок измерений и ошибочной фиксации перемещений</a:t>
            </a:r>
            <a:endParaRPr lang="en-US" sz="2000" dirty="0"/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Рекомендации по исправлениям, например, поверке приборов</a:t>
            </a:r>
            <a:endParaRPr lang="en-US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16A0BD-C871-4044-BE70-F46CF70E2235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1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7"/>
          <p:cNvSpPr/>
          <p:nvPr/>
        </p:nvSpPr>
        <p:spPr>
          <a:xfrm>
            <a:off x="381229" y="1284512"/>
            <a:ext cx="8524417" cy="48114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b="1" dirty="0"/>
              <a:t>Возможности</a:t>
            </a:r>
            <a:r>
              <a:rPr lang="ru-RU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Автоматическое чтение из БДВР АСОДУ всех необходимых для сведения каждого баланса исходных данных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Контроль полноты и корректности исходных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Автоматическое преобразование исходных данных к требуемым балансовым единицам измерений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Вычисление действительных движений материалов, энергоносителей и запасов материалов за период сведения балансов, их накопление и усреднение, корректировку и запись в БДВР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Определение недостоверных измерений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Согласование данных путем оптимальной коррекции балансовых переменных для закрытия баланса с нулевой ошибкой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Production Accounting and Reconciliation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D743DA-0985-4763-9F51-81EB3C3A2F70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242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7"/>
          <p:cNvSpPr/>
          <p:nvPr/>
        </p:nvSpPr>
        <p:spPr>
          <a:xfrm>
            <a:off x="381229" y="1284512"/>
            <a:ext cx="8524417" cy="48114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b="1" dirty="0"/>
              <a:t>Возможности</a:t>
            </a:r>
            <a:r>
              <a:rPr lang="ru-RU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Поддержка расчетов по балансам в интерактивном режиме (т.е. под управлением пользователя), в </a:t>
            </a:r>
            <a:r>
              <a:rPr lang="ru-RU" sz="2000" dirty="0" err="1"/>
              <a:t>т.ч</a:t>
            </a:r>
            <a:r>
              <a:rPr lang="ru-RU" sz="2000" dirty="0"/>
              <a:t>.: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включение /отключение в баланс различного технологического оборудования, маршрутов перемещения материалов, точек контроля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коррекция данных измерений пользователем вручную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000" dirty="0"/>
              <a:t>выбор используемого математического алгоритма сведения балансов из числа имеющихся в системе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/>
              <a:t>Запись расчетных (сбалансированных) значений в БДВР для представления их в отчетах и использования в других приложениях контроля и управления;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Формирование и представление стандартных суточных отчетов по балансам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Production Accounting and Reconciliation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4EEDB0-F6B0-48DD-842D-EA2665B5897E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261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Блок-схема: магнитный диск 10"/>
          <p:cNvSpPr/>
          <p:nvPr/>
        </p:nvSpPr>
        <p:spPr bwMode="auto">
          <a:xfrm>
            <a:off x="3899605" y="3774709"/>
            <a:ext cx="1289914" cy="1199038"/>
          </a:xfrm>
          <a:prstGeom prst="flowChartMagneticDisk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solidFill>
                  <a:srgbClr val="FF0000"/>
                </a:solidFill>
              </a:rPr>
              <a:t>P</a:t>
            </a:r>
            <a:r>
              <a:rPr lang="en-US" sz="1400" b="1" dirty="0">
                <a:solidFill>
                  <a:schemeClr val="tx1"/>
                </a:solidFill>
              </a:rPr>
              <a:t>roduction</a:t>
            </a:r>
          </a:p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H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istory</a:t>
            </a:r>
          </a:p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 dirty="0">
                <a:solidFill>
                  <a:srgbClr val="FF0000"/>
                </a:solidFill>
              </a:rPr>
              <a:t>D</a:t>
            </a:r>
            <a:r>
              <a:rPr lang="en-US" sz="1400" b="1" dirty="0">
                <a:solidFill>
                  <a:schemeClr val="tx1"/>
                </a:solidFill>
              </a:rPr>
              <a:t>atabase</a:t>
            </a:r>
            <a:endParaRPr kumimoji="0" lang="ru-RU" sz="1400" b="1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Прямоугольник 12"/>
          <p:cNvSpPr/>
          <p:nvPr/>
        </p:nvSpPr>
        <p:spPr bwMode="auto">
          <a:xfrm>
            <a:off x="2386200" y="6035159"/>
            <a:ext cx="1287263" cy="532660"/>
          </a:xfrm>
          <a:prstGeom prst="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tx1"/>
                </a:solidFill>
              </a:rPr>
              <a:t>АСУТП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Прямоугольник 85"/>
          <p:cNvSpPr/>
          <p:nvPr/>
        </p:nvSpPr>
        <p:spPr bwMode="auto">
          <a:xfrm>
            <a:off x="736525" y="5683349"/>
            <a:ext cx="6978725" cy="1004872"/>
          </a:xfrm>
          <a:prstGeom prst="rect">
            <a:avLst/>
          </a:prstGeom>
          <a:noFill/>
          <a:ln>
            <a:solidFill>
              <a:srgbClr val="A6AA1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>
                <a:solidFill>
                  <a:schemeClr val="tx1"/>
                </a:solidFill>
              </a:rPr>
              <a:t>Исходные данные</a:t>
            </a:r>
            <a:endParaRPr kumimoji="0" 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Овал 13"/>
          <p:cNvSpPr/>
          <p:nvPr/>
        </p:nvSpPr>
        <p:spPr bwMode="auto">
          <a:xfrm>
            <a:off x="3591017" y="2276416"/>
            <a:ext cx="1961965" cy="949910"/>
          </a:xfrm>
          <a:prstGeom prst="ellipse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Production Accounting and Reconciliation </a:t>
            </a:r>
            <a:endParaRPr kumimoji="0" lang="ru-RU" sz="1400" b="1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Прямоугольник 14"/>
          <p:cNvSpPr/>
          <p:nvPr/>
        </p:nvSpPr>
        <p:spPr bwMode="auto">
          <a:xfrm>
            <a:off x="3904719" y="6035159"/>
            <a:ext cx="1287263" cy="532660"/>
          </a:xfrm>
          <a:prstGeom prst="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</a:rPr>
              <a:t>OIS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15"/>
          <p:cNvSpPr/>
          <p:nvPr/>
        </p:nvSpPr>
        <p:spPr bwMode="auto">
          <a:xfrm>
            <a:off x="5394388" y="6035159"/>
            <a:ext cx="1287263" cy="532660"/>
          </a:xfrm>
          <a:prstGeom prst="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tx1"/>
                </a:solidFill>
              </a:rPr>
              <a:t>Лаборатории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0" name="Скругленная соединительная линия 18"/>
          <p:cNvCxnSpPr>
            <a:stCxn id="4" idx="0"/>
            <a:endCxn id="3" idx="3"/>
          </p:cNvCxnSpPr>
          <p:nvPr/>
        </p:nvCxnSpPr>
        <p:spPr bwMode="auto">
          <a:xfrm rot="5400000" flipH="1" flipV="1">
            <a:off x="3256491" y="4747088"/>
            <a:ext cx="1061412" cy="151473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Скругленная соединительная линия 20"/>
          <p:cNvCxnSpPr>
            <a:stCxn id="7" idx="0"/>
            <a:endCxn id="3" idx="3"/>
          </p:cNvCxnSpPr>
          <p:nvPr/>
        </p:nvCxnSpPr>
        <p:spPr bwMode="auto">
          <a:xfrm rot="16200000" flipV="1">
            <a:off x="4015751" y="5502558"/>
            <a:ext cx="1061412" cy="378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Скругленная соединительная линия 23"/>
          <p:cNvCxnSpPr>
            <a:stCxn id="8" idx="0"/>
            <a:endCxn id="3" idx="3"/>
          </p:cNvCxnSpPr>
          <p:nvPr/>
        </p:nvCxnSpPr>
        <p:spPr bwMode="auto">
          <a:xfrm rot="16200000" flipV="1">
            <a:off x="4760585" y="4757724"/>
            <a:ext cx="1061412" cy="1493458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Скругленный прямоугольник 39"/>
          <p:cNvSpPr/>
          <p:nvPr/>
        </p:nvSpPr>
        <p:spPr bwMode="auto">
          <a:xfrm>
            <a:off x="3881761" y="1129410"/>
            <a:ext cx="1380478" cy="610001"/>
          </a:xfrm>
          <a:prstGeom prst="round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Интерфейс</a:t>
            </a:r>
            <a:r>
              <a:rPr kumimoji="0" lang="ru-RU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пользователя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0" name="Скругленный прямоугольник 73"/>
          <p:cNvSpPr/>
          <p:nvPr/>
        </p:nvSpPr>
        <p:spPr bwMode="auto">
          <a:xfrm>
            <a:off x="922895" y="2488614"/>
            <a:ext cx="1380478" cy="610001"/>
          </a:xfrm>
          <a:prstGeom prst="roundRect">
            <a:avLst/>
          </a:prstGeom>
          <a:ln>
            <a:solidFill>
              <a:srgbClr val="0080C7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tx1"/>
                </a:solidFill>
              </a:rPr>
              <a:t>Генерация отчетов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cxnSp>
        <p:nvCxnSpPr>
          <p:cNvPr id="21" name="Прямая со стрелкой 89"/>
          <p:cNvCxnSpPr/>
          <p:nvPr/>
        </p:nvCxnSpPr>
        <p:spPr bwMode="auto">
          <a:xfrm flipV="1">
            <a:off x="6310492" y="4170221"/>
            <a:ext cx="371159" cy="2960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A6AA14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5725641" y="4386064"/>
            <a:ext cx="2229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>
                <a:latin typeface="+mn-lt"/>
              </a:rPr>
              <a:t>Согласованные данные</a:t>
            </a:r>
          </a:p>
        </p:txBody>
      </p:sp>
      <p:cxnSp>
        <p:nvCxnSpPr>
          <p:cNvPr id="23" name="Прямая со стрелкой 93"/>
          <p:cNvCxnSpPr>
            <a:cxnSpLocks/>
          </p:cNvCxnSpPr>
          <p:nvPr/>
        </p:nvCxnSpPr>
        <p:spPr bwMode="auto">
          <a:xfrm>
            <a:off x="3490055" y="1669113"/>
            <a:ext cx="1244593" cy="4933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A6AA14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41446" y="4694478"/>
            <a:ext cx="1821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n-lt"/>
              </a:rPr>
              <a:t>«Сырые приведенные» данные</a:t>
            </a:r>
          </a:p>
        </p:txBody>
      </p:sp>
      <p:cxnSp>
        <p:nvCxnSpPr>
          <p:cNvPr id="26" name="Прямая со стрелкой 98"/>
          <p:cNvCxnSpPr/>
          <p:nvPr/>
        </p:nvCxnSpPr>
        <p:spPr bwMode="auto">
          <a:xfrm flipH="1" flipV="1">
            <a:off x="4907858" y="3565429"/>
            <a:ext cx="1402634" cy="9008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A6AA14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1145872" y="712663"/>
            <a:ext cx="2619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n-lt"/>
              </a:rPr>
              <a:t>Работа с моделями, ручной ввод и корректировка данных, сведение и утверждение балансов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4349163" y="3226327"/>
            <a:ext cx="0" cy="54838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/>
          <p:cNvCxnSpPr/>
          <p:nvPr/>
        </p:nvCxnSpPr>
        <p:spPr>
          <a:xfrm>
            <a:off x="4778846" y="3226326"/>
            <a:ext cx="0" cy="54838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/>
          <p:cNvCxnSpPr/>
          <p:nvPr/>
        </p:nvCxnSpPr>
        <p:spPr>
          <a:xfrm flipV="1">
            <a:off x="4331891" y="1739411"/>
            <a:ext cx="0" cy="5370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Straight Arrow Connector 51"/>
          <p:cNvCxnSpPr/>
          <p:nvPr/>
        </p:nvCxnSpPr>
        <p:spPr>
          <a:xfrm>
            <a:off x="4761574" y="1739411"/>
            <a:ext cx="0" cy="5370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5" name="Скругленный прямоугольник 73"/>
          <p:cNvSpPr/>
          <p:nvPr/>
        </p:nvSpPr>
        <p:spPr bwMode="auto">
          <a:xfrm>
            <a:off x="7224071" y="2115881"/>
            <a:ext cx="1380478" cy="1025447"/>
          </a:xfrm>
          <a:prstGeom prst="roundRect">
            <a:avLst/>
          </a:prstGeom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b="1" dirty="0">
                <a:solidFill>
                  <a:schemeClr val="tx1"/>
                </a:solidFill>
              </a:rPr>
              <a:t>Генерация отчетов</a:t>
            </a:r>
            <a:endParaRPr kumimoji="0" 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cxnSp>
        <p:nvCxnSpPr>
          <p:cNvPr id="80" name="Скругленная соединительная линия 23"/>
          <p:cNvCxnSpPr>
            <a:stCxn id="3" idx="4"/>
            <a:endCxn id="65" idx="2"/>
          </p:cNvCxnSpPr>
          <p:nvPr/>
        </p:nvCxnSpPr>
        <p:spPr bwMode="auto">
          <a:xfrm flipV="1">
            <a:off x="5189519" y="3141328"/>
            <a:ext cx="2724791" cy="123290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Скругленная соединительная линия 23"/>
          <p:cNvCxnSpPr>
            <a:stCxn id="3" idx="2"/>
            <a:endCxn id="20" idx="2"/>
          </p:cNvCxnSpPr>
          <p:nvPr/>
        </p:nvCxnSpPr>
        <p:spPr bwMode="auto">
          <a:xfrm rot="10800000">
            <a:off x="1613135" y="3098616"/>
            <a:ext cx="2286471" cy="1275613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0080C7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Прямая со стрелкой 98"/>
          <p:cNvCxnSpPr/>
          <p:nvPr/>
        </p:nvCxnSpPr>
        <p:spPr bwMode="auto">
          <a:xfrm flipV="1">
            <a:off x="2318675" y="3565429"/>
            <a:ext cx="1891375" cy="12710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A6AA14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89" name="Прямая со стрелкой 98"/>
          <p:cNvCxnSpPr/>
          <p:nvPr/>
        </p:nvCxnSpPr>
        <p:spPr bwMode="auto">
          <a:xfrm flipV="1">
            <a:off x="2303373" y="4270662"/>
            <a:ext cx="466688" cy="5658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A6AA14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92" name="Прямая со стрелкой 93"/>
          <p:cNvCxnSpPr>
            <a:cxnSpLocks/>
          </p:cNvCxnSpPr>
          <p:nvPr/>
        </p:nvCxnSpPr>
        <p:spPr bwMode="auto">
          <a:xfrm>
            <a:off x="3496476" y="1665584"/>
            <a:ext cx="775124" cy="4904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A6AA14"/>
            </a:solidFill>
            <a:prstDash val="sysDot"/>
            <a:round/>
            <a:headEnd type="none" w="med" len="med"/>
            <a:tailEnd type="triangle"/>
          </a:ln>
          <a:effectLst/>
        </p:spPr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034" y="1216893"/>
            <a:ext cx="589079" cy="58907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56" y="2287720"/>
            <a:ext cx="416477" cy="41647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310" y="1985466"/>
            <a:ext cx="416477" cy="416477"/>
          </a:xfrm>
          <a:prstGeom prst="rect">
            <a:avLst/>
          </a:prstGeom>
        </p:spPr>
      </p:pic>
      <p:sp>
        <p:nvSpPr>
          <p:cNvPr id="33" name="Скругленный прямоугольник 32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Автоматизированное сведение балансов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17B9E7E-CF18-4860-A0E7-BDB4C7F069A2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79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r="5469"/>
          <a:stretch/>
        </p:blipFill>
        <p:spPr>
          <a:xfrm>
            <a:off x="-1" y="376959"/>
            <a:ext cx="9144001" cy="58881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42508" y="1080658"/>
            <a:ext cx="5001491" cy="1057852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4798357" y="1209613"/>
            <a:ext cx="3689809" cy="799942"/>
          </a:xfrm>
          <a:prstGeom prst="rect">
            <a:avLst/>
          </a:prstGeom>
          <a:noFill/>
        </p:spPr>
        <p:txBody>
          <a:bodyPr wrap="none" lIns="91162" tIns="45583" rIns="91162" bIns="45583" rtlCol="0">
            <a:spAutoFit/>
          </a:bodyPr>
          <a:lstStyle/>
          <a:p>
            <a:pPr algn="ctr"/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Теоретические аспекты</a:t>
            </a:r>
          </a:p>
          <a:p>
            <a:pPr algn="ctr"/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согласования балансов</a:t>
            </a:r>
            <a:endParaRPr lang="en-US" sz="23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5B805A2-B187-4E08-87B8-3367F2D1A431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000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Основные понятия</a:t>
            </a:r>
          </a:p>
        </p:txBody>
      </p:sp>
      <p:sp>
        <p:nvSpPr>
          <p:cNvPr id="5" name="Rounded Rectangle 16"/>
          <p:cNvSpPr/>
          <p:nvPr/>
        </p:nvSpPr>
        <p:spPr>
          <a:xfrm>
            <a:off x="689093" y="1634624"/>
            <a:ext cx="7453372" cy="42900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Оборудование (</a:t>
            </a:r>
            <a:r>
              <a:rPr lang="en-US" altLang="ru-RU" sz="2000" dirty="0"/>
              <a:t>Equipment</a:t>
            </a:r>
            <a:r>
              <a:rPr lang="ru-RU" altLang="ru-RU" sz="2000" dirty="0"/>
              <a:t>) </a:t>
            </a:r>
            <a:endParaRPr lang="en-US" altLang="ru-RU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Продукты (</a:t>
            </a:r>
            <a:r>
              <a:rPr lang="en-US" altLang="ru-RU" sz="2000" dirty="0"/>
              <a:t>Products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Перемещения продуктов (</a:t>
            </a:r>
            <a:r>
              <a:rPr lang="en-US" altLang="ru-RU" sz="2000" dirty="0"/>
              <a:t>Product Movements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Запасы (</a:t>
            </a:r>
            <a:r>
              <a:rPr lang="en-US" altLang="ru-RU" sz="2000" dirty="0"/>
              <a:t>Inventory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Измеряемые и согласованные значения (</a:t>
            </a:r>
            <a:r>
              <a:rPr lang="en-US" altLang="ru-RU" sz="2000" dirty="0"/>
              <a:t>Measured Values and Reconciled Values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Единицы измерения </a:t>
            </a:r>
            <a:r>
              <a:rPr lang="en-US" altLang="ru-RU" sz="2000" dirty="0"/>
              <a:t>(Measured Units and Reconciled Units)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Типы измерений (</a:t>
            </a:r>
            <a:r>
              <a:rPr lang="en-US" altLang="ru-RU" sz="2000" dirty="0"/>
              <a:t>Measurement Types</a:t>
            </a:r>
            <a:r>
              <a:rPr lang="ru-RU" altLang="ru-RU" sz="2000" dirty="0"/>
              <a:t>)</a:t>
            </a:r>
            <a:r>
              <a:rPr lang="en-US" altLang="ru-RU" sz="2000" dirty="0"/>
              <a:t> 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ru-RU" altLang="ru-RU" sz="2000" dirty="0"/>
              <a:t>Балансовые периоды и их шаблоны (</a:t>
            </a:r>
            <a:r>
              <a:rPr lang="en-US" altLang="ru-RU" sz="2000" dirty="0"/>
              <a:t>Balance Periods and Balance Cases</a:t>
            </a:r>
            <a:r>
              <a:rPr lang="ru-RU" altLang="ru-RU" sz="2000" dirty="0"/>
              <a:t>)</a:t>
            </a:r>
            <a:endParaRPr lang="en-US" altLang="ru-RU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367689-7EA1-4256-8766-55E1A59737CA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023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Элементы модели баланса</a:t>
            </a:r>
          </a:p>
        </p:txBody>
      </p:sp>
      <p:sp>
        <p:nvSpPr>
          <p:cNvPr id="6" name="Rounded Rectangle 16"/>
          <p:cNvSpPr/>
          <p:nvPr/>
        </p:nvSpPr>
        <p:spPr>
          <a:xfrm>
            <a:off x="384031" y="1634624"/>
            <a:ext cx="8375937" cy="42900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>
              <a:spcBef>
                <a:spcPct val="50000"/>
              </a:spcBef>
            </a:pPr>
            <a:r>
              <a:rPr lang="ru-RU" altLang="ru-RU" sz="2000" b="1" dirty="0"/>
              <a:t>Объекты балансовой модели </a:t>
            </a:r>
            <a:r>
              <a:rPr lang="ru-RU" altLang="ru-RU" sz="2000" dirty="0"/>
              <a:t>- реальные и виртуальные единицы оборудования (узлы).</a:t>
            </a:r>
          </a:p>
          <a:p>
            <a:pPr lvl="1">
              <a:spcBef>
                <a:spcPct val="50000"/>
              </a:spcBef>
            </a:pPr>
            <a:r>
              <a:rPr lang="ru-RU" altLang="ru-RU" sz="2000" dirty="0"/>
              <a:t>Условия баланса:</a:t>
            </a:r>
          </a:p>
          <a:p>
            <a:pPr lvl="1">
              <a:spcBef>
                <a:spcPct val="50000"/>
              </a:spcBef>
            </a:pPr>
            <a:endParaRPr lang="ru-RU" altLang="ru-RU" sz="1100" dirty="0"/>
          </a:p>
          <a:p>
            <a:pPr marL="714375" lvl="2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ru-RU" altLang="ru-RU" sz="2000" dirty="0"/>
              <a:t>без запасов</a:t>
            </a:r>
            <a:r>
              <a:rPr lang="en-US" altLang="ru-RU" sz="2000" dirty="0"/>
              <a:t>:</a:t>
            </a:r>
            <a:r>
              <a:rPr lang="ru-RU" altLang="ru-RU" sz="2000" dirty="0"/>
              <a:t>                        = </a:t>
            </a:r>
          </a:p>
          <a:p>
            <a:pPr marL="714375" lvl="2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ru-RU" altLang="ru-RU" sz="1000" dirty="0"/>
          </a:p>
          <a:p>
            <a:pPr marL="714375" lvl="2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ru-RU" altLang="ru-RU" sz="1000" dirty="0"/>
          </a:p>
          <a:p>
            <a:pPr marL="714375" lvl="2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ru-RU" altLang="ru-RU" sz="2000" dirty="0"/>
              <a:t>с запасами</a:t>
            </a:r>
            <a:r>
              <a:rPr lang="en-US" altLang="ru-RU" sz="2000" dirty="0"/>
              <a:t>:</a:t>
            </a:r>
            <a:r>
              <a:rPr lang="ru-RU" altLang="ru-RU" sz="2000" dirty="0"/>
              <a:t>                          -                            =</a:t>
            </a:r>
          </a:p>
          <a:p>
            <a:pPr marL="714375" lvl="2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ru-RU" altLang="ru-RU" dirty="0"/>
          </a:p>
          <a:p>
            <a:pPr lvl="1">
              <a:spcBef>
                <a:spcPct val="50000"/>
              </a:spcBef>
            </a:pPr>
            <a:r>
              <a:rPr lang="ru-RU" altLang="ru-RU" sz="2000" dirty="0"/>
              <a:t>Перемещения = движение материалов между</a:t>
            </a:r>
            <a:r>
              <a:rPr lang="en-US" altLang="ru-RU" sz="2000" dirty="0"/>
              <a:t> </a:t>
            </a:r>
            <a:r>
              <a:rPr lang="ru-RU" altLang="ru-RU" sz="2000" dirty="0"/>
              <a:t>объектами за период сведения баланса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AE2754-F3D8-4016-BA13-008F14FDE299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0E79F-BA9F-427F-9F0A-934B334E3E29}"/>
              </a:ext>
            </a:extLst>
          </p:cNvPr>
          <p:cNvSpPr txBox="1"/>
          <p:nvPr/>
        </p:nvSpPr>
        <p:spPr>
          <a:xfrm>
            <a:off x="2779396" y="4017384"/>
            <a:ext cx="1276350" cy="794833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1276350"/>
                      <a:gd name="connsiteY0" fmla="*/ 0 h 1015663"/>
                      <a:gd name="connsiteX1" fmla="*/ 1276350 w 1276350"/>
                      <a:gd name="connsiteY1" fmla="*/ 0 h 1015663"/>
                      <a:gd name="connsiteX2" fmla="*/ 1276350 w 1276350"/>
                      <a:gd name="connsiteY2" fmla="*/ 1015663 h 1015663"/>
                      <a:gd name="connsiteX3" fmla="*/ 0 w 1276350"/>
                      <a:gd name="connsiteY3" fmla="*/ 1015663 h 1015663"/>
                      <a:gd name="connsiteX4" fmla="*/ 0 w 1276350"/>
                      <a:gd name="connsiteY4" fmla="*/ 0 h 10156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6350" h="1015663" fill="none" extrusionOk="0">
                        <a:moveTo>
                          <a:pt x="0" y="0"/>
                        </a:moveTo>
                        <a:cubicBezTo>
                          <a:pt x="444986" y="-112672"/>
                          <a:pt x="808852" y="44456"/>
                          <a:pt x="1276350" y="0"/>
                        </a:cubicBezTo>
                        <a:cubicBezTo>
                          <a:pt x="1188028" y="226855"/>
                          <a:pt x="1358711" y="594981"/>
                          <a:pt x="1276350" y="1015663"/>
                        </a:cubicBezTo>
                        <a:cubicBezTo>
                          <a:pt x="1005277" y="1077789"/>
                          <a:pt x="183140" y="1129109"/>
                          <a:pt x="0" y="1015663"/>
                        </a:cubicBezTo>
                        <a:cubicBezTo>
                          <a:pt x="74521" y="699494"/>
                          <a:pt x="-40013" y="374453"/>
                          <a:pt x="0" y="0"/>
                        </a:cubicBezTo>
                        <a:close/>
                      </a:path>
                      <a:path w="1276350" h="1015663" stroke="0" extrusionOk="0">
                        <a:moveTo>
                          <a:pt x="0" y="0"/>
                        </a:moveTo>
                        <a:cubicBezTo>
                          <a:pt x="197323" y="-22236"/>
                          <a:pt x="1054309" y="35712"/>
                          <a:pt x="1276350" y="0"/>
                        </a:cubicBezTo>
                        <a:cubicBezTo>
                          <a:pt x="1358536" y="305998"/>
                          <a:pt x="1359487" y="608917"/>
                          <a:pt x="1276350" y="1015663"/>
                        </a:cubicBezTo>
                        <a:cubicBezTo>
                          <a:pt x="788163" y="1039987"/>
                          <a:pt x="323529" y="1122891"/>
                          <a:pt x="0" y="1015663"/>
                        </a:cubicBezTo>
                        <a:cubicBezTo>
                          <a:pt x="85521" y="857104"/>
                          <a:pt x="12775" y="2635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ru-RU" altLang="ru-RU" sz="2000" dirty="0"/>
              <a:t>сумма входящих потоков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E9B78-937A-4216-835F-6E3DB1A4FE63}"/>
              </a:ext>
            </a:extLst>
          </p:cNvPr>
          <p:cNvSpPr txBox="1"/>
          <p:nvPr/>
        </p:nvSpPr>
        <p:spPr>
          <a:xfrm>
            <a:off x="4294131" y="4132799"/>
            <a:ext cx="1446154" cy="564001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1276350"/>
                      <a:gd name="connsiteY0" fmla="*/ 0 h 1015663"/>
                      <a:gd name="connsiteX1" fmla="*/ 1276350 w 1276350"/>
                      <a:gd name="connsiteY1" fmla="*/ 0 h 1015663"/>
                      <a:gd name="connsiteX2" fmla="*/ 1276350 w 1276350"/>
                      <a:gd name="connsiteY2" fmla="*/ 1015663 h 1015663"/>
                      <a:gd name="connsiteX3" fmla="*/ 0 w 1276350"/>
                      <a:gd name="connsiteY3" fmla="*/ 1015663 h 1015663"/>
                      <a:gd name="connsiteX4" fmla="*/ 0 w 1276350"/>
                      <a:gd name="connsiteY4" fmla="*/ 0 h 10156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6350" h="1015663" fill="none" extrusionOk="0">
                        <a:moveTo>
                          <a:pt x="0" y="0"/>
                        </a:moveTo>
                        <a:cubicBezTo>
                          <a:pt x="444986" y="-112672"/>
                          <a:pt x="808852" y="44456"/>
                          <a:pt x="1276350" y="0"/>
                        </a:cubicBezTo>
                        <a:cubicBezTo>
                          <a:pt x="1188028" y="226855"/>
                          <a:pt x="1358711" y="594981"/>
                          <a:pt x="1276350" y="1015663"/>
                        </a:cubicBezTo>
                        <a:cubicBezTo>
                          <a:pt x="1005277" y="1077789"/>
                          <a:pt x="183140" y="1129109"/>
                          <a:pt x="0" y="1015663"/>
                        </a:cubicBezTo>
                        <a:cubicBezTo>
                          <a:pt x="74521" y="699494"/>
                          <a:pt x="-40013" y="374453"/>
                          <a:pt x="0" y="0"/>
                        </a:cubicBezTo>
                        <a:close/>
                      </a:path>
                      <a:path w="1276350" h="1015663" stroke="0" extrusionOk="0">
                        <a:moveTo>
                          <a:pt x="0" y="0"/>
                        </a:moveTo>
                        <a:cubicBezTo>
                          <a:pt x="197323" y="-22236"/>
                          <a:pt x="1054309" y="35712"/>
                          <a:pt x="1276350" y="0"/>
                        </a:cubicBezTo>
                        <a:cubicBezTo>
                          <a:pt x="1358536" y="305998"/>
                          <a:pt x="1359487" y="608917"/>
                          <a:pt x="1276350" y="1015663"/>
                        </a:cubicBezTo>
                        <a:cubicBezTo>
                          <a:pt x="788163" y="1039987"/>
                          <a:pt x="323529" y="1122891"/>
                          <a:pt x="0" y="1015663"/>
                        </a:cubicBezTo>
                        <a:cubicBezTo>
                          <a:pt x="85521" y="857104"/>
                          <a:pt x="12775" y="2635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 algn="ctr">
              <a:lnSpc>
                <a:spcPts val="1800"/>
              </a:lnSpc>
              <a:defRPr sz="2000"/>
            </a:lvl1pPr>
          </a:lstStyle>
          <a:p>
            <a:r>
              <a:rPr lang="ru-RU" altLang="ru-RU" dirty="0"/>
              <a:t>сумма выходящих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7C710-E520-4F77-B1E2-3AE3FFA449D5}"/>
              </a:ext>
            </a:extLst>
          </p:cNvPr>
          <p:cNvSpPr txBox="1"/>
          <p:nvPr/>
        </p:nvSpPr>
        <p:spPr>
          <a:xfrm>
            <a:off x="6075307" y="4132798"/>
            <a:ext cx="1731904" cy="564001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1276350"/>
                      <a:gd name="connsiteY0" fmla="*/ 0 h 1015663"/>
                      <a:gd name="connsiteX1" fmla="*/ 1276350 w 1276350"/>
                      <a:gd name="connsiteY1" fmla="*/ 0 h 1015663"/>
                      <a:gd name="connsiteX2" fmla="*/ 1276350 w 1276350"/>
                      <a:gd name="connsiteY2" fmla="*/ 1015663 h 1015663"/>
                      <a:gd name="connsiteX3" fmla="*/ 0 w 1276350"/>
                      <a:gd name="connsiteY3" fmla="*/ 1015663 h 1015663"/>
                      <a:gd name="connsiteX4" fmla="*/ 0 w 1276350"/>
                      <a:gd name="connsiteY4" fmla="*/ 0 h 10156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6350" h="1015663" fill="none" extrusionOk="0">
                        <a:moveTo>
                          <a:pt x="0" y="0"/>
                        </a:moveTo>
                        <a:cubicBezTo>
                          <a:pt x="444986" y="-112672"/>
                          <a:pt x="808852" y="44456"/>
                          <a:pt x="1276350" y="0"/>
                        </a:cubicBezTo>
                        <a:cubicBezTo>
                          <a:pt x="1188028" y="226855"/>
                          <a:pt x="1358711" y="594981"/>
                          <a:pt x="1276350" y="1015663"/>
                        </a:cubicBezTo>
                        <a:cubicBezTo>
                          <a:pt x="1005277" y="1077789"/>
                          <a:pt x="183140" y="1129109"/>
                          <a:pt x="0" y="1015663"/>
                        </a:cubicBezTo>
                        <a:cubicBezTo>
                          <a:pt x="74521" y="699494"/>
                          <a:pt x="-40013" y="374453"/>
                          <a:pt x="0" y="0"/>
                        </a:cubicBezTo>
                        <a:close/>
                      </a:path>
                      <a:path w="1276350" h="1015663" stroke="0" extrusionOk="0">
                        <a:moveTo>
                          <a:pt x="0" y="0"/>
                        </a:moveTo>
                        <a:cubicBezTo>
                          <a:pt x="197323" y="-22236"/>
                          <a:pt x="1054309" y="35712"/>
                          <a:pt x="1276350" y="0"/>
                        </a:cubicBezTo>
                        <a:cubicBezTo>
                          <a:pt x="1358536" y="305998"/>
                          <a:pt x="1359487" y="608917"/>
                          <a:pt x="1276350" y="1015663"/>
                        </a:cubicBezTo>
                        <a:cubicBezTo>
                          <a:pt x="788163" y="1039987"/>
                          <a:pt x="323529" y="1122891"/>
                          <a:pt x="0" y="1015663"/>
                        </a:cubicBezTo>
                        <a:cubicBezTo>
                          <a:pt x="85521" y="857104"/>
                          <a:pt x="12775" y="2635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 algn="ctr">
              <a:lnSpc>
                <a:spcPts val="1800"/>
              </a:lnSpc>
              <a:defRPr sz="2000"/>
            </a:lvl1pPr>
          </a:lstStyle>
          <a:p>
            <a:r>
              <a:rPr lang="ru-RU" altLang="ru-RU" dirty="0"/>
              <a:t>приращение запаса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5B0AC-8477-4905-9288-B0FAC7CF6D26}"/>
              </a:ext>
            </a:extLst>
          </p:cNvPr>
          <p:cNvSpPr txBox="1"/>
          <p:nvPr/>
        </p:nvSpPr>
        <p:spPr>
          <a:xfrm>
            <a:off x="2779396" y="3093787"/>
            <a:ext cx="1276350" cy="794833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1276350"/>
                      <a:gd name="connsiteY0" fmla="*/ 0 h 1015663"/>
                      <a:gd name="connsiteX1" fmla="*/ 1276350 w 1276350"/>
                      <a:gd name="connsiteY1" fmla="*/ 0 h 1015663"/>
                      <a:gd name="connsiteX2" fmla="*/ 1276350 w 1276350"/>
                      <a:gd name="connsiteY2" fmla="*/ 1015663 h 1015663"/>
                      <a:gd name="connsiteX3" fmla="*/ 0 w 1276350"/>
                      <a:gd name="connsiteY3" fmla="*/ 1015663 h 1015663"/>
                      <a:gd name="connsiteX4" fmla="*/ 0 w 1276350"/>
                      <a:gd name="connsiteY4" fmla="*/ 0 h 10156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6350" h="1015663" fill="none" extrusionOk="0">
                        <a:moveTo>
                          <a:pt x="0" y="0"/>
                        </a:moveTo>
                        <a:cubicBezTo>
                          <a:pt x="444986" y="-112672"/>
                          <a:pt x="808852" y="44456"/>
                          <a:pt x="1276350" y="0"/>
                        </a:cubicBezTo>
                        <a:cubicBezTo>
                          <a:pt x="1188028" y="226855"/>
                          <a:pt x="1358711" y="594981"/>
                          <a:pt x="1276350" y="1015663"/>
                        </a:cubicBezTo>
                        <a:cubicBezTo>
                          <a:pt x="1005277" y="1077789"/>
                          <a:pt x="183140" y="1129109"/>
                          <a:pt x="0" y="1015663"/>
                        </a:cubicBezTo>
                        <a:cubicBezTo>
                          <a:pt x="74521" y="699494"/>
                          <a:pt x="-40013" y="374453"/>
                          <a:pt x="0" y="0"/>
                        </a:cubicBezTo>
                        <a:close/>
                      </a:path>
                      <a:path w="1276350" h="1015663" stroke="0" extrusionOk="0">
                        <a:moveTo>
                          <a:pt x="0" y="0"/>
                        </a:moveTo>
                        <a:cubicBezTo>
                          <a:pt x="197323" y="-22236"/>
                          <a:pt x="1054309" y="35712"/>
                          <a:pt x="1276350" y="0"/>
                        </a:cubicBezTo>
                        <a:cubicBezTo>
                          <a:pt x="1358536" y="305998"/>
                          <a:pt x="1359487" y="608917"/>
                          <a:pt x="1276350" y="1015663"/>
                        </a:cubicBezTo>
                        <a:cubicBezTo>
                          <a:pt x="788163" y="1039987"/>
                          <a:pt x="323529" y="1122891"/>
                          <a:pt x="0" y="1015663"/>
                        </a:cubicBezTo>
                        <a:cubicBezTo>
                          <a:pt x="85521" y="857104"/>
                          <a:pt x="12775" y="2635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ru-RU" altLang="ru-RU" sz="2000" dirty="0"/>
              <a:t>сумма входящих потоков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11846-5FB7-4DD8-98C8-4AF762F4D158}"/>
              </a:ext>
            </a:extLst>
          </p:cNvPr>
          <p:cNvSpPr txBox="1"/>
          <p:nvPr/>
        </p:nvSpPr>
        <p:spPr>
          <a:xfrm>
            <a:off x="4294131" y="3209202"/>
            <a:ext cx="1446154" cy="564001"/>
          </a:xfrm>
          <a:prstGeom prst="rect">
            <a:avLst/>
          </a:prstGeom>
          <a:ln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1276350"/>
                      <a:gd name="connsiteY0" fmla="*/ 0 h 1015663"/>
                      <a:gd name="connsiteX1" fmla="*/ 1276350 w 1276350"/>
                      <a:gd name="connsiteY1" fmla="*/ 0 h 1015663"/>
                      <a:gd name="connsiteX2" fmla="*/ 1276350 w 1276350"/>
                      <a:gd name="connsiteY2" fmla="*/ 1015663 h 1015663"/>
                      <a:gd name="connsiteX3" fmla="*/ 0 w 1276350"/>
                      <a:gd name="connsiteY3" fmla="*/ 1015663 h 1015663"/>
                      <a:gd name="connsiteX4" fmla="*/ 0 w 1276350"/>
                      <a:gd name="connsiteY4" fmla="*/ 0 h 10156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76350" h="1015663" fill="none" extrusionOk="0">
                        <a:moveTo>
                          <a:pt x="0" y="0"/>
                        </a:moveTo>
                        <a:cubicBezTo>
                          <a:pt x="444986" y="-112672"/>
                          <a:pt x="808852" y="44456"/>
                          <a:pt x="1276350" y="0"/>
                        </a:cubicBezTo>
                        <a:cubicBezTo>
                          <a:pt x="1188028" y="226855"/>
                          <a:pt x="1358711" y="594981"/>
                          <a:pt x="1276350" y="1015663"/>
                        </a:cubicBezTo>
                        <a:cubicBezTo>
                          <a:pt x="1005277" y="1077789"/>
                          <a:pt x="183140" y="1129109"/>
                          <a:pt x="0" y="1015663"/>
                        </a:cubicBezTo>
                        <a:cubicBezTo>
                          <a:pt x="74521" y="699494"/>
                          <a:pt x="-40013" y="374453"/>
                          <a:pt x="0" y="0"/>
                        </a:cubicBezTo>
                        <a:close/>
                      </a:path>
                      <a:path w="1276350" h="1015663" stroke="0" extrusionOk="0">
                        <a:moveTo>
                          <a:pt x="0" y="0"/>
                        </a:moveTo>
                        <a:cubicBezTo>
                          <a:pt x="197323" y="-22236"/>
                          <a:pt x="1054309" y="35712"/>
                          <a:pt x="1276350" y="0"/>
                        </a:cubicBezTo>
                        <a:cubicBezTo>
                          <a:pt x="1358536" y="305998"/>
                          <a:pt x="1359487" y="608917"/>
                          <a:pt x="1276350" y="1015663"/>
                        </a:cubicBezTo>
                        <a:cubicBezTo>
                          <a:pt x="788163" y="1039987"/>
                          <a:pt x="323529" y="1122891"/>
                          <a:pt x="0" y="1015663"/>
                        </a:cubicBezTo>
                        <a:cubicBezTo>
                          <a:pt x="85521" y="857104"/>
                          <a:pt x="12775" y="2635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 algn="ctr">
              <a:lnSpc>
                <a:spcPts val="1800"/>
              </a:lnSpc>
              <a:defRPr sz="2000"/>
            </a:lvl1pPr>
          </a:lstStyle>
          <a:p>
            <a:r>
              <a:rPr lang="ru-RU" altLang="ru-RU" dirty="0"/>
              <a:t>сумма выходящих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575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Переменные модели баланса</a:t>
            </a:r>
          </a:p>
        </p:txBody>
      </p:sp>
      <p:sp>
        <p:nvSpPr>
          <p:cNvPr id="7" name="Rounded Rectangle 16"/>
          <p:cNvSpPr/>
          <p:nvPr/>
        </p:nvSpPr>
        <p:spPr>
          <a:xfrm>
            <a:off x="359064" y="1163782"/>
            <a:ext cx="8369300" cy="49460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20000"/>
              </a:spcBef>
              <a:buClr>
                <a:srgbClr val="0053A1"/>
              </a:buClr>
            </a:pPr>
            <a:r>
              <a:rPr lang="ru-RU" altLang="ru-RU" sz="2000" dirty="0">
                <a:latin typeface="Arial Rounded MT Bold" panose="020F0704030504030204" pitchFamily="34" charset="0"/>
              </a:rPr>
              <a:t>Переменными модели баланса являются значения перемещений и запасов в объектах на моменты открытия и закрытия баланса</a:t>
            </a: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фиксированные</a:t>
            </a: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, т.е. не изменяющие свои значения при сведении баланса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измеряемые</a:t>
            </a: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, т.е. такие для которых известны измерения, подлежащие известной коррекции для сведения баланса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  <a:r>
              <a:rPr lang="ru-RU" altLang="ru-RU" sz="2000" dirty="0">
                <a:latin typeface="Arial Rounded MT Bold" panose="020F0704030504030204" pitchFamily="34" charset="0"/>
              </a:rPr>
              <a:t>для измеряемых переменных должны быть заданы допустимые пределы корректировки (</a:t>
            </a:r>
            <a:r>
              <a:rPr lang="en-US" altLang="ru-RU" sz="2000" b="1" dirty="0"/>
              <a:t>tolerance - </a:t>
            </a:r>
            <a:r>
              <a:rPr lang="ru-RU" altLang="ru-RU" sz="2000" b="1" dirty="0"/>
              <a:t>погрешность</a:t>
            </a:r>
            <a:r>
              <a:rPr lang="en-US" altLang="ru-RU" sz="2000" dirty="0">
                <a:latin typeface="Arial Rounded MT Bold" panose="020F0704030504030204" pitchFamily="34" charset="0"/>
              </a:rPr>
              <a:t>)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2000" b="1" dirty="0" err="1">
                <a:latin typeface="Calibri" panose="020F0502020204030204" pitchFamily="34" charset="0"/>
                <a:ea typeface="Times New Roman" panose="02020603050405020304" pitchFamily="18" charset="0"/>
              </a:rPr>
              <a:t>неизмеряемые</a:t>
            </a: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, т.е. такие, относительно которых ничего неизвестно и их значения должны быть определены в результате сведения балансов.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Bef>
                <a:spcPts val="600"/>
              </a:spcBef>
              <a:spcAft>
                <a:spcPts val="0"/>
              </a:spcAft>
            </a:pP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Альтернативные (измерениям) значения измеряемых переменных могут быть заданы пользователем и использованы в качестве исходных при сведении баланса.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83A9A2-3350-43CF-9070-C26243D0E463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292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6271060"/>
              </p:ext>
            </p:extLst>
          </p:nvPr>
        </p:nvGraphicFramePr>
        <p:xfrm>
          <a:off x="585788" y="1576388"/>
          <a:ext cx="8636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9" name="Equation" r:id="rId4" imgW="545760" imgH="215640" progId="Equation.3">
                  <p:embed/>
                </p:oleObj>
              </mc:Choice>
              <mc:Fallback>
                <p:oleObj name="Equation" r:id="rId4" imgW="545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1576388"/>
                        <a:ext cx="8636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1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8177367"/>
              </p:ext>
            </p:extLst>
          </p:nvPr>
        </p:nvGraphicFramePr>
        <p:xfrm>
          <a:off x="563563" y="2471738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" name="Equation" r:id="rId6" imgW="114120" imgH="139680" progId="Equation.3">
                  <p:embed/>
                </p:oleObj>
              </mc:Choice>
              <mc:Fallback>
                <p:oleObj name="Equation" r:id="rId6" imgW="11412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2471738"/>
                        <a:ext cx="228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3" name="Text Box 5"/>
          <p:cNvSpPr txBox="1">
            <a:spLocks noChangeArrowheads="1"/>
          </p:cNvSpPr>
          <p:nvPr/>
        </p:nvSpPr>
        <p:spPr bwMode="auto">
          <a:xfrm>
            <a:off x="2627313" y="4475882"/>
            <a:ext cx="3251200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aseline="0" dirty="0">
                <a:latin typeface="Arial" pitchFamily="34" charset="0"/>
              </a:rPr>
              <a:t>– </a:t>
            </a:r>
            <a:r>
              <a:rPr lang="ru-RU" sz="1600" baseline="0" dirty="0">
                <a:latin typeface="Arial" pitchFamily="34" charset="0"/>
              </a:rPr>
              <a:t>исходные измерения</a:t>
            </a:r>
          </a:p>
        </p:txBody>
      </p:sp>
      <p:sp>
        <p:nvSpPr>
          <p:cNvPr id="3084" name="Text Box 6"/>
          <p:cNvSpPr txBox="1">
            <a:spLocks noChangeArrowheads="1"/>
          </p:cNvSpPr>
          <p:nvPr/>
        </p:nvSpPr>
        <p:spPr bwMode="auto">
          <a:xfrm>
            <a:off x="2916238" y="5385531"/>
            <a:ext cx="6192837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aseline="0" dirty="0">
                <a:latin typeface="Arial" pitchFamily="34" charset="0"/>
              </a:rPr>
              <a:t>– </a:t>
            </a:r>
            <a:r>
              <a:rPr lang="ru-RU" sz="1600" baseline="0" dirty="0">
                <a:latin typeface="Arial" pitchFamily="34" charset="0"/>
              </a:rPr>
              <a:t>сбалансированные измеряемые переменные</a:t>
            </a:r>
          </a:p>
        </p:txBody>
      </p:sp>
      <p:sp>
        <p:nvSpPr>
          <p:cNvPr id="3085" name="Text Box 7"/>
          <p:cNvSpPr txBox="1">
            <a:spLocks noChangeArrowheads="1"/>
          </p:cNvSpPr>
          <p:nvPr/>
        </p:nvSpPr>
        <p:spPr bwMode="auto">
          <a:xfrm>
            <a:off x="2898775" y="5828810"/>
            <a:ext cx="6227762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aseline="0" dirty="0">
                <a:latin typeface="Arial" pitchFamily="34" charset="0"/>
              </a:rPr>
              <a:t>– </a:t>
            </a:r>
            <a:r>
              <a:rPr lang="ru-RU" sz="1600" baseline="0" dirty="0">
                <a:latin typeface="Arial" pitchFamily="34" charset="0"/>
              </a:rPr>
              <a:t>сбалансированные </a:t>
            </a:r>
            <a:r>
              <a:rPr lang="ru-RU" sz="1600" baseline="0" dirty="0" err="1">
                <a:latin typeface="Arial" pitchFamily="34" charset="0"/>
              </a:rPr>
              <a:t>неизмеряемые</a:t>
            </a:r>
            <a:r>
              <a:rPr lang="ru-RU" sz="1600" baseline="0" dirty="0">
                <a:latin typeface="Arial" pitchFamily="34" charset="0"/>
              </a:rPr>
              <a:t> переменные</a:t>
            </a:r>
          </a:p>
        </p:txBody>
      </p:sp>
      <p:sp>
        <p:nvSpPr>
          <p:cNvPr id="3086" name="Text Box 8"/>
          <p:cNvSpPr txBox="1">
            <a:spLocks noChangeArrowheads="1"/>
          </p:cNvSpPr>
          <p:nvPr/>
        </p:nvSpPr>
        <p:spPr bwMode="auto">
          <a:xfrm>
            <a:off x="823913" y="2462714"/>
            <a:ext cx="2087562" cy="292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tIns="0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aseline="0" dirty="0">
                <a:latin typeface="Arial" pitchFamily="34" charset="0"/>
              </a:rPr>
              <a:t>– постоянные</a:t>
            </a:r>
          </a:p>
        </p:txBody>
      </p:sp>
      <p:sp>
        <p:nvSpPr>
          <p:cNvPr id="3087" name="Text Box 9"/>
          <p:cNvSpPr txBox="1">
            <a:spLocks noChangeArrowheads="1"/>
          </p:cNvSpPr>
          <p:nvPr/>
        </p:nvSpPr>
        <p:spPr bwMode="auto">
          <a:xfrm>
            <a:off x="1179513" y="3976975"/>
            <a:ext cx="7561262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aseline="0" dirty="0">
                <a:latin typeface="Arial" pitchFamily="34" charset="0"/>
              </a:rPr>
              <a:t>–</a:t>
            </a:r>
            <a:r>
              <a:rPr lang="en-US" sz="2000" baseline="0" dirty="0">
                <a:latin typeface="Arial" pitchFamily="34" charset="0"/>
              </a:rPr>
              <a:t> </a:t>
            </a:r>
            <a:r>
              <a:rPr lang="ru-RU" sz="1600" baseline="0" dirty="0">
                <a:latin typeface="Arial" pitchFamily="34" charset="0"/>
              </a:rPr>
              <a:t>матрица</a:t>
            </a:r>
            <a:r>
              <a:rPr lang="en-US" sz="1600" baseline="0" dirty="0">
                <a:latin typeface="Arial" pitchFamily="34" charset="0"/>
              </a:rPr>
              <a:t> </a:t>
            </a:r>
            <a:r>
              <a:rPr lang="ru-RU" sz="1600" baseline="0" dirty="0">
                <a:latin typeface="Arial" pitchFamily="34" charset="0"/>
              </a:rPr>
              <a:t>допусков на коррекцию  измерений </a:t>
            </a:r>
          </a:p>
        </p:txBody>
      </p:sp>
      <p:sp>
        <p:nvSpPr>
          <p:cNvPr id="3088" name="Text Box 10"/>
          <p:cNvSpPr txBox="1">
            <a:spLocks noChangeArrowheads="1"/>
          </p:cNvSpPr>
          <p:nvPr/>
        </p:nvSpPr>
        <p:spPr bwMode="auto">
          <a:xfrm>
            <a:off x="325438" y="1001212"/>
            <a:ext cx="2916237" cy="369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800" baseline="0" dirty="0">
                <a:latin typeface="Arial" pitchFamily="34" charset="0"/>
              </a:rPr>
              <a:t>Условия баланса:</a:t>
            </a:r>
          </a:p>
        </p:txBody>
      </p:sp>
      <p:sp>
        <p:nvSpPr>
          <p:cNvPr id="3089" name="Text Box 11"/>
          <p:cNvSpPr txBox="1">
            <a:spLocks noChangeArrowheads="1"/>
          </p:cNvSpPr>
          <p:nvPr/>
        </p:nvSpPr>
        <p:spPr bwMode="auto">
          <a:xfrm>
            <a:off x="1646238" y="1972177"/>
            <a:ext cx="4981575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aseline="0" dirty="0">
                <a:latin typeface="Arial" pitchFamily="34" charset="0"/>
              </a:rPr>
              <a:t> </a:t>
            </a:r>
            <a:r>
              <a:rPr lang="ru-RU" sz="2000" baseline="0" dirty="0">
                <a:latin typeface="Arial" pitchFamily="34" charset="0"/>
              </a:rPr>
              <a:t>– </a:t>
            </a:r>
            <a:r>
              <a:rPr lang="ru-RU" sz="1600" baseline="0" dirty="0">
                <a:latin typeface="Arial" pitchFamily="34" charset="0"/>
              </a:rPr>
              <a:t> матрицы коэффициентов уравнений балансов</a:t>
            </a:r>
          </a:p>
        </p:txBody>
      </p:sp>
      <p:sp>
        <p:nvSpPr>
          <p:cNvPr id="3090" name="Text Box 12"/>
          <p:cNvSpPr txBox="1">
            <a:spLocks noChangeArrowheads="1"/>
          </p:cNvSpPr>
          <p:nvPr/>
        </p:nvSpPr>
        <p:spPr bwMode="auto">
          <a:xfrm>
            <a:off x="326823" y="5001919"/>
            <a:ext cx="1873250" cy="3381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aseline="0" dirty="0">
                <a:latin typeface="Arial" pitchFamily="34" charset="0"/>
              </a:rPr>
              <a:t>Результат:</a:t>
            </a:r>
          </a:p>
        </p:txBody>
      </p:sp>
      <p:graphicFrame>
        <p:nvGraphicFramePr>
          <p:cNvPr id="30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625657"/>
              </p:ext>
            </p:extLst>
          </p:nvPr>
        </p:nvGraphicFramePr>
        <p:xfrm>
          <a:off x="554038" y="5398597"/>
          <a:ext cx="237648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" name="Equation" r:id="rId8" imgW="1143000" imgH="241200" progId="Equation.3">
                  <p:embed/>
                </p:oleObj>
              </mc:Choice>
              <mc:Fallback>
                <p:oleObj name="Equation" r:id="rId8" imgW="11430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5398597"/>
                        <a:ext cx="2376488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Rectangle 1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1800" baseline="0">
              <a:latin typeface="+mn-lt"/>
              <a:ea typeface="ヒラギノ角ゴ Pro W3" pitchFamily="-84" charset="-128"/>
              <a:cs typeface="+mn-cs"/>
            </a:endParaRPr>
          </a:p>
        </p:txBody>
      </p:sp>
      <p:graphicFrame>
        <p:nvGraphicFramePr>
          <p:cNvPr id="30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11056"/>
              </p:ext>
            </p:extLst>
          </p:nvPr>
        </p:nvGraphicFramePr>
        <p:xfrm>
          <a:off x="554038" y="5818919"/>
          <a:ext cx="23764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" name="Equation" r:id="rId10" imgW="1129810" imgH="241195" progId="Equation.3">
                  <p:embed/>
                </p:oleObj>
              </mc:Choice>
              <mc:Fallback>
                <p:oleObj name="Equation" r:id="rId10" imgW="112981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5818919"/>
                        <a:ext cx="2376488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70891"/>
              </p:ext>
            </p:extLst>
          </p:nvPr>
        </p:nvGraphicFramePr>
        <p:xfrm>
          <a:off x="468313" y="4489376"/>
          <a:ext cx="208121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3" name="Equation" r:id="rId12" imgW="1091880" imgH="215640" progId="Equation.3">
                  <p:embed/>
                </p:oleObj>
              </mc:Choice>
              <mc:Fallback>
                <p:oleObj name="Equation" r:id="rId12" imgW="1091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489376"/>
                        <a:ext cx="2081212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195602"/>
              </p:ext>
            </p:extLst>
          </p:nvPr>
        </p:nvGraphicFramePr>
        <p:xfrm>
          <a:off x="458788" y="3972283"/>
          <a:ext cx="7207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4" name="Equation" r:id="rId14" imgW="431613" imgH="241195" progId="Equation.3">
                  <p:embed/>
                </p:oleObj>
              </mc:Choice>
              <mc:Fallback>
                <p:oleObj name="Equation" r:id="rId14" imgW="43161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3972283"/>
                        <a:ext cx="7207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1800" baseline="0">
              <a:latin typeface="+mn-lt"/>
              <a:ea typeface="ヒラギノ角ゴ Pro W3" pitchFamily="-84" charset="-128"/>
              <a:cs typeface="+mn-cs"/>
            </a:endParaRPr>
          </a:p>
        </p:txBody>
      </p:sp>
      <p:graphicFrame>
        <p:nvGraphicFramePr>
          <p:cNvPr id="307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645364"/>
              </p:ext>
            </p:extLst>
          </p:nvPr>
        </p:nvGraphicFramePr>
        <p:xfrm>
          <a:off x="534988" y="1947431"/>
          <a:ext cx="12954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5" name="Equation" r:id="rId16" imgW="748975" imgH="241195" progId="Equation.3">
                  <p:embed/>
                </p:oleObj>
              </mc:Choice>
              <mc:Fallback>
                <p:oleObj name="Equation" r:id="rId16" imgW="74897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1947431"/>
                        <a:ext cx="1295400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872799"/>
              </p:ext>
            </p:extLst>
          </p:nvPr>
        </p:nvGraphicFramePr>
        <p:xfrm>
          <a:off x="2854326" y="934536"/>
          <a:ext cx="30241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6" name="Equation" r:id="rId18" imgW="1231366" imgH="241195" progId="Equation.3">
                  <p:embed/>
                </p:oleObj>
              </mc:Choice>
              <mc:Fallback>
                <p:oleObj name="Equation" r:id="rId18" imgW="1231366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6" y="934536"/>
                        <a:ext cx="3024187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307269"/>
              </p:ext>
            </p:extLst>
          </p:nvPr>
        </p:nvGraphicFramePr>
        <p:xfrm>
          <a:off x="1179513" y="3081772"/>
          <a:ext cx="654322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7" name="Equation" r:id="rId20" imgW="3187440" imgH="507960" progId="Equation.3">
                  <p:embed/>
                </p:oleObj>
              </mc:Choice>
              <mc:Fallback>
                <p:oleObj name="Equation" r:id="rId20" imgW="31874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3081772"/>
                        <a:ext cx="6543223" cy="974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5"/>
          <p:cNvSpPr txBox="1">
            <a:spLocks noChangeArrowheads="1"/>
          </p:cNvSpPr>
          <p:nvPr/>
        </p:nvSpPr>
        <p:spPr bwMode="auto">
          <a:xfrm>
            <a:off x="1436688" y="1517943"/>
            <a:ext cx="7489825" cy="4000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aseline="0" dirty="0">
                <a:latin typeface="Arial" pitchFamily="34" charset="0"/>
              </a:rPr>
              <a:t>– </a:t>
            </a:r>
            <a:r>
              <a:rPr lang="ru-RU" sz="1600" baseline="0" dirty="0">
                <a:latin typeface="Arial" pitchFamily="34" charset="0"/>
              </a:rPr>
              <a:t>число балансов, измеряемых и </a:t>
            </a:r>
            <a:r>
              <a:rPr lang="ru-RU" sz="1600" baseline="0" dirty="0" err="1">
                <a:latin typeface="Arial" pitchFamily="34" charset="0"/>
              </a:rPr>
              <a:t>неизмеряемых</a:t>
            </a:r>
            <a:r>
              <a:rPr lang="ru-RU" sz="1600" baseline="0" dirty="0">
                <a:latin typeface="Arial" pitchFamily="34" charset="0"/>
              </a:rPr>
              <a:t> переменных</a:t>
            </a:r>
          </a:p>
        </p:txBody>
      </p:sp>
      <p:sp>
        <p:nvSpPr>
          <p:cNvPr id="3094" name="Text Box 27"/>
          <p:cNvSpPr txBox="1">
            <a:spLocks noChangeArrowheads="1"/>
          </p:cNvSpPr>
          <p:nvPr/>
        </p:nvSpPr>
        <p:spPr bwMode="auto">
          <a:xfrm>
            <a:off x="388735" y="2721399"/>
            <a:ext cx="6769100" cy="3381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aseline="0" dirty="0">
                <a:latin typeface="Arial" pitchFamily="34" charset="0"/>
              </a:rPr>
              <a:t>Требование к сбалансированным переменным:</a:t>
            </a:r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Математическая постановка задачи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3F5AEF2-D7D4-4AB6-A523-715DB2C9F202}"/>
              </a:ext>
            </a:extLst>
          </p:cNvPr>
          <p:cNvSpPr/>
          <p:nvPr/>
        </p:nvSpPr>
        <p:spPr>
          <a:xfrm>
            <a:off x="7915275" y="58543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62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42938"/>
            <a:ext cx="8461375" cy="742950"/>
          </a:xfrm>
        </p:spPr>
        <p:txBody>
          <a:bodyPr>
            <a:normAutofit fontScale="90000"/>
          </a:bodyPr>
          <a:lstStyle/>
          <a:p>
            <a:pPr lvl="1" algn="ctr">
              <a:defRPr/>
            </a:pPr>
            <a:r>
              <a:rPr lang="ru-RU" sz="2400" dirty="0">
                <a:latin typeface="+mj-lt"/>
              </a:rPr>
              <a:t>Использование избыточности данных для выявления ошибок измерений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433388" y="4548188"/>
          <a:ext cx="6985000" cy="161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name="Document" r:id="rId3" imgW="5629428" imgH="880562" progId="Word.Document.8">
                  <p:embed/>
                </p:oleObj>
              </mc:Choice>
              <mc:Fallback>
                <p:oleObj name="Document" r:id="rId3" imgW="5629428" imgH="8805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234" r="16234"/>
                      <a:stretch>
                        <a:fillRect/>
                      </a:stretch>
                    </p:blipFill>
                    <p:spPr bwMode="auto">
                      <a:xfrm>
                        <a:off x="433388" y="4548188"/>
                        <a:ext cx="6985000" cy="161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3632200" y="1533525"/>
          <a:ext cx="155733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9" name="Equation" r:id="rId5" imgW="685800" imgH="457200" progId="Equation.3">
                  <p:embed/>
                </p:oleObj>
              </mc:Choice>
              <mc:Fallback>
                <p:oleObj name="Equation" r:id="rId5" imgW="685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1533525"/>
                        <a:ext cx="1557338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3" name="AutoShape 5"/>
          <p:cNvSpPr>
            <a:spLocks noChangeArrowheads="1"/>
          </p:cNvSpPr>
          <p:nvPr/>
        </p:nvSpPr>
        <p:spPr bwMode="auto">
          <a:xfrm>
            <a:off x="571500" y="3335338"/>
            <a:ext cx="2044700" cy="612775"/>
          </a:xfrm>
          <a:prstGeom prst="wedgeRoundRectCallout">
            <a:avLst>
              <a:gd name="adj1" fmla="val 61472"/>
              <a:gd name="adj2" fmla="val 163991"/>
              <a:gd name="adj3" fmla="val 16667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Число измеряемых</a:t>
            </a:r>
          </a:p>
          <a:p>
            <a:pPr algn="ctr">
              <a:defRPr/>
            </a:pP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потоков</a:t>
            </a:r>
            <a:r>
              <a:rPr lang="en-US" sz="1600" b="1" baseline="0" dirty="0">
                <a:latin typeface="+mn-lt"/>
                <a:ea typeface="ヒラギノ角ゴ Pro W3" pitchFamily="-84" charset="-128"/>
                <a:cs typeface="+mn-cs"/>
              </a:rPr>
              <a:t>/</a:t>
            </a: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запасов</a:t>
            </a:r>
            <a:endParaRPr lang="en-US" sz="1600" b="1" baseline="0" dirty="0">
              <a:latin typeface="+mn-lt"/>
              <a:ea typeface="ヒラギノ角ゴ Pro W3" pitchFamily="-84" charset="-128"/>
              <a:cs typeface="+mn-cs"/>
            </a:endParaRPr>
          </a:p>
        </p:txBody>
      </p:sp>
      <p:sp>
        <p:nvSpPr>
          <p:cNvPr id="145414" name="AutoShape 6"/>
          <p:cNvSpPr>
            <a:spLocks noChangeArrowheads="1"/>
          </p:cNvSpPr>
          <p:nvPr/>
        </p:nvSpPr>
        <p:spPr bwMode="auto">
          <a:xfrm>
            <a:off x="2843213" y="3335338"/>
            <a:ext cx="1485900" cy="595312"/>
          </a:xfrm>
          <a:prstGeom prst="wedgeRoundRectCallout">
            <a:avLst>
              <a:gd name="adj1" fmla="val 38139"/>
              <a:gd name="adj2" fmla="val 168134"/>
              <a:gd name="adj3" fmla="val 16667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Число балансов</a:t>
            </a:r>
            <a:endParaRPr lang="en-US" sz="1600" b="1" baseline="0" dirty="0">
              <a:latin typeface="+mn-lt"/>
              <a:ea typeface="ヒラギノ角ゴ Pro W3" pitchFamily="-84" charset="-128"/>
              <a:cs typeface="+mn-cs"/>
            </a:endParaRPr>
          </a:p>
        </p:txBody>
      </p:sp>
      <p:sp>
        <p:nvSpPr>
          <p:cNvPr id="145415" name="AutoShape 7"/>
          <p:cNvSpPr>
            <a:spLocks noChangeArrowheads="1"/>
          </p:cNvSpPr>
          <p:nvPr/>
        </p:nvSpPr>
        <p:spPr bwMode="auto">
          <a:xfrm>
            <a:off x="4500563" y="3335338"/>
            <a:ext cx="1843087" cy="638175"/>
          </a:xfrm>
          <a:prstGeom prst="wedgeRoundRectCallout">
            <a:avLst>
              <a:gd name="adj1" fmla="val -15325"/>
              <a:gd name="adj2" fmla="val 149749"/>
              <a:gd name="adj3" fmla="val 16667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Число неизме-</a:t>
            </a:r>
          </a:p>
          <a:p>
            <a:pPr algn="ctr">
              <a:defRPr/>
            </a:pP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ряемых потоков</a:t>
            </a:r>
            <a:endParaRPr lang="en-US" sz="1600" b="1" baseline="0" dirty="0">
              <a:latin typeface="+mn-lt"/>
              <a:ea typeface="ヒラギノ角ゴ Pro W3" pitchFamily="-84" charset="-128"/>
              <a:cs typeface="+mn-cs"/>
            </a:endParaRPr>
          </a:p>
        </p:txBody>
      </p:sp>
      <p:sp>
        <p:nvSpPr>
          <p:cNvPr id="4104" name="Text Box 9"/>
          <p:cNvSpPr txBox="1">
            <a:spLocks noChangeArrowheads="1"/>
          </p:cNvSpPr>
          <p:nvPr/>
        </p:nvSpPr>
        <p:spPr bwMode="auto">
          <a:xfrm>
            <a:off x="5505450" y="1404938"/>
            <a:ext cx="363855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  <a:t>Пример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: </a:t>
            </a:r>
            <a: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  <a:t>общий баланс завода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 </a:t>
            </a:r>
            <a:b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</a:b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(1 </a:t>
            </a:r>
            <a: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  <a:t>уравнение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) </a:t>
            </a:r>
            <a: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  <a:t>с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 10 </a:t>
            </a:r>
            <a: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  <a:t>подачами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 </a:t>
            </a:r>
            <a: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  <a:t>и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 40 </a:t>
            </a:r>
            <a:r>
              <a:rPr lang="ru-RU" sz="1800" baseline="0" dirty="0">
                <a:latin typeface="+mn-lt"/>
                <a:ea typeface="ヒラギノ角ゴ Pro W3" pitchFamily="-84" charset="-128"/>
                <a:cs typeface="+mn-cs"/>
              </a:rPr>
              <a:t>отгрузками имеет избыточность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:</a:t>
            </a:r>
          </a:p>
          <a:p>
            <a:pPr>
              <a:spcBef>
                <a:spcPct val="50000"/>
              </a:spcBef>
              <a:defRPr/>
            </a:pPr>
            <a:r>
              <a:rPr lang="en-US" sz="1800" i="1" baseline="0" dirty="0">
                <a:latin typeface="+mn-lt"/>
                <a:ea typeface="ヒラギノ角ゴ Pro W3" pitchFamily="-84" charset="-128"/>
                <a:cs typeface="+mn-cs"/>
              </a:rPr>
              <a:t>F </a:t>
            </a:r>
            <a:r>
              <a:rPr lang="en-US" sz="1800" baseline="0" dirty="0">
                <a:latin typeface="+mn-lt"/>
                <a:ea typeface="ヒラギノ角ゴ Pro W3" pitchFamily="-84" charset="-128"/>
                <a:cs typeface="+mn-cs"/>
              </a:rPr>
              <a:t>= 1 / (10+40) * 100% = 2%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323850" y="1379538"/>
            <a:ext cx="30861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000" u="sng" baseline="0" dirty="0">
                <a:latin typeface="+mn-lt"/>
                <a:ea typeface="ヒラギノ角ゴ Pro W3" pitchFamily="-84" charset="-128"/>
                <a:cs typeface="+mn-cs"/>
              </a:rPr>
              <a:t>Параметр избыточности</a:t>
            </a:r>
            <a:endParaRPr lang="en-US" sz="2000" u="sng" baseline="0" dirty="0">
              <a:latin typeface="+mn-lt"/>
              <a:ea typeface="ヒラギノ角ゴ Pro W3" pitchFamily="-84" charset="-128"/>
              <a:cs typeface="+mn-cs"/>
            </a:endParaRPr>
          </a:p>
        </p:txBody>
      </p:sp>
      <p:sp>
        <p:nvSpPr>
          <p:cNvPr id="145419" name="AutoShape 11"/>
          <p:cNvSpPr>
            <a:spLocks noChangeArrowheads="1"/>
          </p:cNvSpPr>
          <p:nvPr/>
        </p:nvSpPr>
        <p:spPr bwMode="auto">
          <a:xfrm>
            <a:off x="7019925" y="4005263"/>
            <a:ext cx="1944688" cy="1295400"/>
          </a:xfrm>
          <a:prstGeom prst="wedgeRoundRectCallout">
            <a:avLst>
              <a:gd name="adj1" fmla="val -70981"/>
              <a:gd name="adj2" fmla="val 51227"/>
              <a:gd name="adj3" fmla="val 16667"/>
            </a:avLst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Для устойчивого</a:t>
            </a:r>
            <a:endParaRPr lang="en-US" sz="1600" b="1" baseline="0" dirty="0">
              <a:latin typeface="+mn-lt"/>
              <a:ea typeface="ヒラギノ角ゴ Pro W3" pitchFamily="-84" charset="-128"/>
              <a:cs typeface="+mn-cs"/>
            </a:endParaRPr>
          </a:p>
          <a:p>
            <a:pPr algn="ctr">
              <a:defRPr/>
            </a:pP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результата</a:t>
            </a:r>
            <a:br>
              <a:rPr lang="en-US" sz="1600" b="1" baseline="0" dirty="0">
                <a:latin typeface="+mn-lt"/>
                <a:ea typeface="ヒラギノ角ゴ Pro W3" pitchFamily="-84" charset="-128"/>
                <a:cs typeface="+mn-cs"/>
              </a:rPr>
            </a:br>
            <a:r>
              <a:rPr lang="en-US" sz="1600" b="1" baseline="0" dirty="0">
                <a:latin typeface="+mn-lt"/>
                <a:ea typeface="ヒラギノ角ゴ Pro W3" pitchFamily="-84" charset="-128"/>
                <a:cs typeface="+mn-cs"/>
              </a:rPr>
              <a:t> </a:t>
            </a: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рекомендуется</a:t>
            </a:r>
            <a:br>
              <a:rPr lang="en-US" sz="1600" b="1" baseline="0" dirty="0">
                <a:latin typeface="+mn-lt"/>
                <a:ea typeface="ヒラギノ角ゴ Pro W3" pitchFamily="-84" charset="-128"/>
                <a:cs typeface="+mn-cs"/>
              </a:rPr>
            </a:br>
            <a:r>
              <a:rPr lang="ru-RU" sz="1600" b="1" baseline="0" dirty="0">
                <a:latin typeface="+mn-lt"/>
                <a:ea typeface="ヒラギノ角ゴ Pro W3" pitchFamily="-84" charset="-128"/>
                <a:cs typeface="+mn-cs"/>
              </a:rPr>
              <a:t>избыточность</a:t>
            </a:r>
            <a:br>
              <a:rPr lang="en-US" sz="1600" b="1" baseline="0" dirty="0">
                <a:latin typeface="+mn-lt"/>
                <a:ea typeface="ヒラギノ角ゴ Pro W3" pitchFamily="-84" charset="-128"/>
                <a:cs typeface="+mn-cs"/>
              </a:rPr>
            </a:br>
            <a:r>
              <a:rPr lang="en-US" sz="1600" b="1" baseline="0" dirty="0">
                <a:latin typeface="+mn-lt"/>
                <a:ea typeface="ヒラギノ角ゴ Pro W3" pitchFamily="-84" charset="-128"/>
                <a:cs typeface="+mn-cs"/>
              </a:rPr>
              <a:t> &gt;30%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Математическая постановка задачи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5DA50C-929B-4277-BB16-F2CADD7C713E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297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r="5469"/>
          <a:stretch/>
        </p:blipFill>
        <p:spPr>
          <a:xfrm>
            <a:off x="-1" y="376959"/>
            <a:ext cx="9144001" cy="58881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70619" y="6550223"/>
            <a:ext cx="2299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Honeywell confidence</a:t>
            </a:r>
            <a:endParaRPr lang="ru-RU" sz="1400" dirty="0"/>
          </a:p>
        </p:txBody>
      </p:sp>
      <p:sp>
        <p:nvSpPr>
          <p:cNvPr id="4" name="Rectangle 3"/>
          <p:cNvSpPr/>
          <p:nvPr/>
        </p:nvSpPr>
        <p:spPr>
          <a:xfrm>
            <a:off x="3038474" y="1080658"/>
            <a:ext cx="6105525" cy="128284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149074" y="1306126"/>
            <a:ext cx="5994926" cy="799942"/>
          </a:xfrm>
          <a:prstGeom prst="rect">
            <a:avLst/>
          </a:prstGeom>
          <a:noFill/>
        </p:spPr>
        <p:txBody>
          <a:bodyPr wrap="none" lIns="91162" tIns="45583" rIns="91162" bIns="45583" rtlCol="0">
            <a:spAutoFit/>
          </a:bodyPr>
          <a:lstStyle/>
          <a:p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Практическая часть. </a:t>
            </a:r>
          </a:p>
          <a:p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Подготовка исходных данных для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PAR</a:t>
            </a:r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3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492DEB-B0A3-44C5-A5E1-5ECEFF6EEE10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347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Подготовка исходных данных</a:t>
            </a:r>
          </a:p>
        </p:txBody>
      </p:sp>
      <p:sp>
        <p:nvSpPr>
          <p:cNvPr id="7" name="Rounded Rectangle 14"/>
          <p:cNvSpPr/>
          <p:nvPr/>
        </p:nvSpPr>
        <p:spPr>
          <a:xfrm>
            <a:off x="268837" y="1798481"/>
            <a:ext cx="8556508" cy="36463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dirty="0"/>
              <a:t>Ознакомимся с последовательностью и особенностями подготовки исходных данных для последующего использования при конфигурации модели в </a:t>
            </a:r>
            <a:r>
              <a:rPr lang="en-US" sz="2000" dirty="0"/>
              <a:t>PAR</a:t>
            </a:r>
            <a:r>
              <a:rPr lang="ru-RU" sz="2000" dirty="0"/>
              <a:t> в рамках реализации проекта.</a:t>
            </a:r>
            <a:endParaRPr lang="en-US" sz="2000" dirty="0"/>
          </a:p>
          <a:p>
            <a:r>
              <a:rPr lang="ru-RU" sz="2000" dirty="0"/>
              <a:t>Подготовка исходных данных включает в себя: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Разработку балансовой схемы</a:t>
            </a:r>
            <a:r>
              <a:rPr lang="en-US" sz="2000" dirty="0"/>
              <a:t>;</a:t>
            </a:r>
            <a:endParaRPr lang="ru-RU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Кодирование объектов и потоков</a:t>
            </a:r>
            <a:r>
              <a:rPr lang="en-US" sz="2000" dirty="0"/>
              <a:t>;</a:t>
            </a:r>
            <a:endParaRPr lang="ru-RU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Идентификация тегов расхода, давления, температуры</a:t>
            </a:r>
            <a:r>
              <a:rPr lang="en-US" sz="2000" dirty="0"/>
              <a:t>;</a:t>
            </a:r>
            <a:endParaRPr lang="ru-RU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Преобразование исходных данных к балансовым единицам</a:t>
            </a:r>
            <a:r>
              <a:rPr lang="en-US" sz="2000" dirty="0"/>
              <a:t>.</a:t>
            </a:r>
            <a:endParaRPr lang="ru-RU" sz="2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788290-5751-4745-9DCC-39CCE04DD69C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499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Разработка балансовой схемы</a:t>
            </a:r>
          </a:p>
        </p:txBody>
      </p:sp>
      <p:sp>
        <p:nvSpPr>
          <p:cNvPr id="6" name="Rounded Rectangle 14"/>
          <p:cNvSpPr/>
          <p:nvPr/>
        </p:nvSpPr>
        <p:spPr>
          <a:xfrm>
            <a:off x="268837" y="1484017"/>
            <a:ext cx="8570363" cy="42379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Разработка балансовой схемы состоит из следующих этапов: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Выбор балансовой среды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Выбор балансовых единиц измерения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Определение объектов, которые участвуют в выработке/потреблении, распределении, хранении выбранной среды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Определение взаимосвязей объектов (пути и направления потоков среды)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Определение наличия и условных наименований измерителей расхода/давления/температуры на потоках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/>
              <a:t>Визуальное оформление балансовой схемы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BB8D0E-7B28-4001-8929-23AFA607CEC7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776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0" y="1453292"/>
            <a:ext cx="8916223" cy="426370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2850"/>
            <a:ext cx="9144000" cy="5238750"/>
          </a:xfrm>
        </p:spPr>
        <p:txBody>
          <a:bodyPr/>
          <a:lstStyle/>
          <a:p>
            <a:pPr lvl="1"/>
            <a:endParaRPr lang="en-US" dirty="0"/>
          </a:p>
          <a:p>
            <a:endParaRPr lang="en-US" dirty="0"/>
          </a:p>
        </p:txBody>
      </p:sp>
      <p:cxnSp>
        <p:nvCxnSpPr>
          <p:cNvPr id="39" name="Прямая со стрелкой 38"/>
          <p:cNvCxnSpPr>
            <a:cxnSpLocks/>
            <a:stCxn id="84" idx="2"/>
          </p:cNvCxnSpPr>
          <p:nvPr/>
        </p:nvCxnSpPr>
        <p:spPr bwMode="auto">
          <a:xfrm flipH="1">
            <a:off x="949882" y="1891253"/>
            <a:ext cx="202471" cy="140439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1" name="Прямая со стрелкой 40"/>
          <p:cNvCxnSpPr>
            <a:cxnSpLocks/>
            <a:stCxn id="84" idx="2"/>
          </p:cNvCxnSpPr>
          <p:nvPr/>
        </p:nvCxnSpPr>
        <p:spPr bwMode="auto">
          <a:xfrm flipH="1">
            <a:off x="873407" y="1891253"/>
            <a:ext cx="278946" cy="3830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5" name="Прямая со стрелкой 44"/>
          <p:cNvCxnSpPr>
            <a:cxnSpLocks/>
            <a:stCxn id="85" idx="2"/>
          </p:cNvCxnSpPr>
          <p:nvPr/>
        </p:nvCxnSpPr>
        <p:spPr bwMode="auto">
          <a:xfrm flipH="1">
            <a:off x="7552671" y="4375998"/>
            <a:ext cx="717922" cy="86042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0" name="Прямая со стрелкой 59"/>
          <p:cNvCxnSpPr>
            <a:cxnSpLocks/>
          </p:cNvCxnSpPr>
          <p:nvPr/>
        </p:nvCxnSpPr>
        <p:spPr bwMode="auto">
          <a:xfrm flipV="1">
            <a:off x="5435234" y="4383995"/>
            <a:ext cx="238393" cy="117758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2" name="Прямая со стрелкой 61"/>
          <p:cNvCxnSpPr>
            <a:cxnSpLocks/>
            <a:stCxn id="86" idx="0"/>
          </p:cNvCxnSpPr>
          <p:nvPr/>
        </p:nvCxnSpPr>
        <p:spPr bwMode="auto">
          <a:xfrm flipV="1">
            <a:off x="5435234" y="2794515"/>
            <a:ext cx="1073612" cy="27487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72" name="Прямая со стрелкой 71"/>
          <p:cNvCxnSpPr>
            <a:cxnSpLocks/>
          </p:cNvCxnSpPr>
          <p:nvPr/>
        </p:nvCxnSpPr>
        <p:spPr bwMode="auto">
          <a:xfrm>
            <a:off x="3172707" y="1509640"/>
            <a:ext cx="1456887" cy="50934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74" name="Прямая со стрелкой 73"/>
          <p:cNvCxnSpPr>
            <a:cxnSpLocks/>
            <a:stCxn id="93" idx="2"/>
          </p:cNvCxnSpPr>
          <p:nvPr/>
        </p:nvCxnSpPr>
        <p:spPr bwMode="auto">
          <a:xfrm flipH="1">
            <a:off x="1704975" y="1509640"/>
            <a:ext cx="1467732" cy="895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76" name="Прямая со стрелкой 75"/>
          <p:cNvCxnSpPr>
            <a:cxnSpLocks/>
            <a:stCxn id="87" idx="0"/>
          </p:cNvCxnSpPr>
          <p:nvPr/>
        </p:nvCxnSpPr>
        <p:spPr bwMode="auto">
          <a:xfrm flipV="1">
            <a:off x="2434381" y="4392392"/>
            <a:ext cx="2796460" cy="128565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78" name="Прямая со стрелкой 77"/>
          <p:cNvCxnSpPr>
            <a:cxnSpLocks/>
            <a:stCxn id="87" idx="0"/>
          </p:cNvCxnSpPr>
          <p:nvPr/>
        </p:nvCxnSpPr>
        <p:spPr bwMode="auto">
          <a:xfrm flipV="1">
            <a:off x="2434381" y="3089943"/>
            <a:ext cx="415797" cy="25881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4" name="TextBox 83"/>
          <p:cNvSpPr txBox="1"/>
          <p:nvPr/>
        </p:nvSpPr>
        <p:spPr>
          <a:xfrm>
            <a:off x="198213" y="1552699"/>
            <a:ext cx="1908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Поступление среды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18143" y="3791223"/>
            <a:ext cx="1104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n-lt"/>
              </a:rPr>
              <a:t>Отгрузка среды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33856" y="5543225"/>
            <a:ext cx="1402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Потоки среды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21599" y="5678048"/>
            <a:ext cx="1825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Коллекторы среды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76120" y="1171086"/>
            <a:ext cx="1993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Измерители расхода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" y="892225"/>
            <a:ext cx="1646056" cy="619466"/>
          </a:xfrm>
          <a:prstGeom prst="rect">
            <a:avLst/>
          </a:prstGeom>
        </p:spPr>
      </p:pic>
      <p:sp>
        <p:nvSpPr>
          <p:cNvPr id="25" name="Скругленный прямоугольник 2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Разработка балансовой схемы</a:t>
            </a:r>
          </a:p>
        </p:txBody>
      </p:sp>
      <p:cxnSp>
        <p:nvCxnSpPr>
          <p:cNvPr id="43" name="Прямая со стрелкой 44"/>
          <p:cNvCxnSpPr>
            <a:cxnSpLocks/>
            <a:stCxn id="85" idx="0"/>
          </p:cNvCxnSpPr>
          <p:nvPr/>
        </p:nvCxnSpPr>
        <p:spPr bwMode="auto">
          <a:xfrm flipH="1" flipV="1">
            <a:off x="7302962" y="2219325"/>
            <a:ext cx="967631" cy="15718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53" name="TextBox 52"/>
          <p:cNvSpPr txBox="1"/>
          <p:nvPr/>
        </p:nvSpPr>
        <p:spPr>
          <a:xfrm>
            <a:off x="2702615" y="4549152"/>
            <a:ext cx="172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+mn-lt"/>
              </a:rPr>
              <a:t>Объект с запасом</a:t>
            </a:r>
          </a:p>
        </p:txBody>
      </p:sp>
      <p:cxnSp>
        <p:nvCxnSpPr>
          <p:cNvPr id="54" name="Прямая со стрелкой 73"/>
          <p:cNvCxnSpPr>
            <a:cxnSpLocks/>
          </p:cNvCxnSpPr>
          <p:nvPr/>
        </p:nvCxnSpPr>
        <p:spPr bwMode="auto">
          <a:xfrm flipV="1">
            <a:off x="3450032" y="4006141"/>
            <a:ext cx="134577" cy="54209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5B03021-3BBD-41CA-97EC-2A36EFC40244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043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61137"/>
              </p:ext>
            </p:extLst>
          </p:nvPr>
        </p:nvGraphicFramePr>
        <p:xfrm>
          <a:off x="301156" y="984467"/>
          <a:ext cx="1165801" cy="7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" name="Visio" r:id="rId3" imgW="1142932" imgH="733357" progId="Visio.Drawing.15">
                  <p:embed/>
                </p:oleObj>
              </mc:Choice>
              <mc:Fallback>
                <p:oleObj name="Visio" r:id="rId3" imgW="1142932" imgH="733357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56" y="984467"/>
                        <a:ext cx="1165801" cy="7480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536464"/>
              </p:ext>
            </p:extLst>
          </p:nvPr>
        </p:nvGraphicFramePr>
        <p:xfrm>
          <a:off x="301156" y="1822553"/>
          <a:ext cx="1165800" cy="75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" name="Visio" r:id="rId5" imgW="1209655" imgH="704985" progId="Visio.Drawing.15">
                  <p:embed/>
                </p:oleObj>
              </mc:Choice>
              <mc:Fallback>
                <p:oleObj name="Visio" r:id="rId5" imgW="1209655" imgH="704985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56" y="1822553"/>
                        <a:ext cx="1165800" cy="756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 flipV="1">
            <a:off x="437374" y="3160424"/>
            <a:ext cx="610016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685408"/>
              </p:ext>
            </p:extLst>
          </p:nvPr>
        </p:nvGraphicFramePr>
        <p:xfrm>
          <a:off x="175822" y="2407215"/>
          <a:ext cx="1643164" cy="914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" name="Visio" r:id="rId7" imgW="1181021" imgH="657157" progId="Visio.Drawing.15">
                  <p:embed/>
                </p:oleObj>
              </mc:Choice>
              <mc:Fallback>
                <p:oleObj name="Visio" r:id="rId7" imgW="1181021" imgH="657157" progId="Visio.Drawing.1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22" y="2407215"/>
                        <a:ext cx="1643164" cy="9143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174318"/>
              </p:ext>
            </p:extLst>
          </p:nvPr>
        </p:nvGraphicFramePr>
        <p:xfrm>
          <a:off x="96314" y="5774187"/>
          <a:ext cx="1722672" cy="108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1" name="Visio" r:id="rId9" imgW="1238289" imgH="1400243" progId="Visio.Drawing.15">
                  <p:embed/>
                </p:oleObj>
              </mc:Choice>
              <mc:Fallback>
                <p:oleObj name="Visio" r:id="rId9" imgW="1238289" imgH="1400243" progId="Visio.Drawing.15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14" y="5774187"/>
                        <a:ext cx="1722672" cy="1083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Прямоугольник 16"/>
          <p:cNvSpPr/>
          <p:nvPr/>
        </p:nvSpPr>
        <p:spPr>
          <a:xfrm>
            <a:off x="1452284" y="661433"/>
            <a:ext cx="375789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Типы объектов: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ru-RU" dirty="0"/>
              <a:t>/</a:t>
            </a:r>
            <a:r>
              <a:rPr lang="en-US" dirty="0"/>
              <a:t>G (Receipt) – </a:t>
            </a:r>
            <a:r>
              <a:rPr lang="ru-RU" dirty="0"/>
              <a:t>приём среды (источники)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 (Shipment) – </a:t>
            </a:r>
            <a:r>
              <a:rPr lang="ru-RU" dirty="0"/>
              <a:t>отгрузка среды (потребители)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 (Unit) – </a:t>
            </a:r>
            <a:r>
              <a:rPr lang="ru-RU" dirty="0"/>
              <a:t>установки/технологический блоки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  - </a:t>
            </a:r>
            <a:r>
              <a:rPr lang="ru-RU" dirty="0"/>
              <a:t>факелы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 (Tank) – </a:t>
            </a:r>
            <a:r>
              <a:rPr lang="ru-RU" dirty="0"/>
              <a:t>резервуары/хранилища</a:t>
            </a:r>
          </a:p>
          <a:p>
            <a:endParaRPr lang="ru-RU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 (Manifold)– </a:t>
            </a:r>
            <a:r>
              <a:rPr lang="ru-RU" dirty="0"/>
              <a:t>коллекторы (</a:t>
            </a:r>
            <a:r>
              <a:rPr lang="ru-RU" dirty="0" err="1"/>
              <a:t>манифолды</a:t>
            </a:r>
            <a:r>
              <a:rPr lang="ru-RU" dirty="0"/>
              <a:t>)</a:t>
            </a: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Кодирование объектов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599" y="4616767"/>
            <a:ext cx="1102913" cy="881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167" y="3617210"/>
            <a:ext cx="861342" cy="861766"/>
          </a:xfrm>
          <a:prstGeom prst="rect">
            <a:avLst/>
          </a:prstGeom>
        </p:spPr>
      </p:pic>
      <p:sp>
        <p:nvSpPr>
          <p:cNvPr id="16" name="Прямоугольник 16"/>
          <p:cNvSpPr/>
          <p:nvPr/>
        </p:nvSpPr>
        <p:spPr>
          <a:xfrm>
            <a:off x="5169877" y="623037"/>
            <a:ext cx="397412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Кодирование объектов: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ru-RU" dirty="0"/>
              <a:t>_</a:t>
            </a:r>
            <a:r>
              <a:rPr lang="ru-RU" kern="0" dirty="0"/>
              <a:t>«код </a:t>
            </a:r>
            <a:r>
              <a:rPr lang="ru-RU" kern="0" dirty="0" err="1"/>
              <a:t>цеха»«порядковый</a:t>
            </a:r>
            <a:r>
              <a:rPr lang="ru-RU" kern="0" dirty="0"/>
              <a:t> номер»</a:t>
            </a:r>
            <a:r>
              <a:rPr lang="en-US" kern="0" dirty="0"/>
              <a:t> (G – </a:t>
            </a:r>
            <a:r>
              <a:rPr lang="ru-RU" kern="0" dirty="0"/>
              <a:t>поступление среды с ГЗУ</a:t>
            </a:r>
            <a:r>
              <a:rPr lang="en-US" kern="0" dirty="0"/>
              <a:t>, R – </a:t>
            </a:r>
            <a:r>
              <a:rPr lang="ru-RU" kern="0" dirty="0"/>
              <a:t>внешние источники)</a:t>
            </a:r>
            <a:endParaRPr lang="en-US" kern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ru-RU" dirty="0"/>
              <a:t>_</a:t>
            </a:r>
            <a:r>
              <a:rPr lang="ru-RU" kern="0" dirty="0"/>
              <a:t>«код </a:t>
            </a:r>
            <a:r>
              <a:rPr lang="ru-RU" kern="0" dirty="0" err="1"/>
              <a:t>цеха»«порядковый</a:t>
            </a:r>
            <a:r>
              <a:rPr lang="ru-RU" kern="0" dirty="0"/>
              <a:t> номер»</a:t>
            </a:r>
            <a:endParaRPr lang="en-US" kern="0" dirty="0"/>
          </a:p>
          <a:p>
            <a:endParaRPr lang="ru-RU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</a:t>
            </a:r>
            <a:r>
              <a:rPr lang="ru-RU" dirty="0"/>
              <a:t>_</a:t>
            </a:r>
            <a:r>
              <a:rPr lang="ru-RU" kern="0" dirty="0"/>
              <a:t>«код </a:t>
            </a:r>
            <a:r>
              <a:rPr lang="ru-RU" kern="0" dirty="0" err="1"/>
              <a:t>цеха»«код</a:t>
            </a:r>
            <a:r>
              <a:rPr lang="ru-RU" kern="0" dirty="0"/>
              <a:t> </a:t>
            </a:r>
            <a:r>
              <a:rPr lang="ru-RU" kern="0" dirty="0" err="1"/>
              <a:t>участка»_«порядковый</a:t>
            </a:r>
            <a:r>
              <a:rPr lang="ru-RU" kern="0" dirty="0"/>
              <a:t> номер»</a:t>
            </a:r>
            <a:endParaRPr lang="en-US" kern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</a:t>
            </a:r>
            <a:r>
              <a:rPr lang="ru-RU" dirty="0"/>
              <a:t>_</a:t>
            </a:r>
            <a:r>
              <a:rPr lang="ru-RU" kern="0" dirty="0"/>
              <a:t>«код </a:t>
            </a:r>
            <a:r>
              <a:rPr lang="ru-RU" kern="0" dirty="0" err="1"/>
              <a:t>цеха»«код</a:t>
            </a:r>
            <a:r>
              <a:rPr lang="ru-RU" kern="0" dirty="0"/>
              <a:t> </a:t>
            </a:r>
            <a:r>
              <a:rPr lang="ru-RU" kern="0" dirty="0" err="1"/>
              <a:t>участка»_«порядковый</a:t>
            </a:r>
            <a:r>
              <a:rPr lang="ru-RU" kern="0" dirty="0"/>
              <a:t> номер»</a:t>
            </a:r>
            <a:endParaRPr lang="en-US" kern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ru-RU" dirty="0"/>
              <a:t>_</a:t>
            </a:r>
            <a:r>
              <a:rPr lang="ru-RU" kern="0" dirty="0"/>
              <a:t>«код </a:t>
            </a:r>
            <a:r>
              <a:rPr lang="ru-RU" kern="0" dirty="0" err="1"/>
              <a:t>цеха»«код</a:t>
            </a:r>
            <a:r>
              <a:rPr lang="ru-RU" kern="0" dirty="0"/>
              <a:t> </a:t>
            </a:r>
            <a:r>
              <a:rPr lang="ru-RU" kern="0" dirty="0" err="1"/>
              <a:t>участка»«среда»_«порядковый</a:t>
            </a:r>
            <a:r>
              <a:rPr lang="ru-RU" kern="0" dirty="0"/>
              <a:t> номер»  (среды </a:t>
            </a:r>
            <a:r>
              <a:rPr lang="ru-RU" kern="0" dirty="0" err="1"/>
              <a:t>резевуаров</a:t>
            </a:r>
            <a:r>
              <a:rPr lang="ru-RU" kern="0" dirty="0"/>
              <a:t>: С – нефть, </a:t>
            </a:r>
            <a:r>
              <a:rPr lang="en-US" kern="0" dirty="0"/>
              <a:t>W – </a:t>
            </a:r>
            <a:r>
              <a:rPr lang="ru-RU" kern="0" dirty="0"/>
              <a:t>вода)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</a:t>
            </a:r>
            <a:r>
              <a:rPr lang="ru-RU" dirty="0"/>
              <a:t>_</a:t>
            </a:r>
            <a:r>
              <a:rPr lang="ru-RU" kern="0" dirty="0"/>
              <a:t>«код </a:t>
            </a:r>
            <a:r>
              <a:rPr lang="ru-RU" kern="0" dirty="0" err="1"/>
              <a:t>цеха»«порядковый</a:t>
            </a:r>
            <a:r>
              <a:rPr lang="ru-RU" kern="0" dirty="0"/>
              <a:t> номер»</a:t>
            </a:r>
            <a:endParaRPr lang="en-US" kern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EDADE91-D4E8-42DB-96E5-20727BAF93C6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071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97227"/>
              </p:ext>
            </p:extLst>
          </p:nvPr>
        </p:nvGraphicFramePr>
        <p:xfrm>
          <a:off x="735832" y="1332239"/>
          <a:ext cx="1183570" cy="759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9" name="Visio" r:id="rId3" imgW="1142932" imgH="733357" progId="Visio.Drawing.15">
                  <p:embed/>
                </p:oleObj>
              </mc:Choice>
              <mc:Fallback>
                <p:oleObj name="Visio" r:id="rId3" imgW="1142932" imgH="733357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32" y="1332239"/>
                        <a:ext cx="1183570" cy="7594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42422"/>
              </p:ext>
            </p:extLst>
          </p:nvPr>
        </p:nvGraphicFramePr>
        <p:xfrm>
          <a:off x="5276550" y="1335748"/>
          <a:ext cx="1183570" cy="767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" name="Visio" r:id="rId5" imgW="1209655" imgH="704985" progId="Visio.Drawing.15">
                  <p:embed/>
                </p:oleObj>
              </mc:Choice>
              <mc:Fallback>
                <p:oleObj name="Visio" r:id="rId5" imgW="1209655" imgH="704985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550" y="1335748"/>
                        <a:ext cx="1183570" cy="7679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436077"/>
              </p:ext>
            </p:extLst>
          </p:nvPr>
        </p:nvGraphicFramePr>
        <p:xfrm>
          <a:off x="537969" y="2579310"/>
          <a:ext cx="1668210" cy="928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" name="Visio" r:id="rId7" imgW="1181021" imgH="657157" progId="Visio.Drawing.15">
                  <p:embed/>
                </p:oleObj>
              </mc:Choice>
              <mc:Fallback>
                <p:oleObj name="Visio" r:id="rId7" imgW="1181021" imgH="657157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69" y="2579310"/>
                        <a:ext cx="1668210" cy="9282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785986"/>
              </p:ext>
            </p:extLst>
          </p:nvPr>
        </p:nvGraphicFramePr>
        <p:xfrm>
          <a:off x="423969" y="4747246"/>
          <a:ext cx="1414401" cy="198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2" name="Visio" r:id="rId9" imgW="1238289" imgH="1400243" progId="Visio.Drawing.15">
                  <p:embed/>
                </p:oleObj>
              </mc:Choice>
              <mc:Fallback>
                <p:oleObj name="Visio" r:id="rId9" imgW="1238289" imgH="1400243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69" y="4747246"/>
                        <a:ext cx="1414401" cy="1982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/>
          <p:nvPr/>
        </p:nvPicPr>
        <p:blipFill>
          <a:blip r:embed="rId11"/>
          <a:stretch>
            <a:fillRect/>
          </a:stretch>
        </p:blipFill>
        <p:spPr>
          <a:xfrm>
            <a:off x="2992874" y="1352661"/>
            <a:ext cx="712128" cy="73903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12"/>
          <a:stretch>
            <a:fillRect/>
          </a:stretch>
        </p:blipFill>
        <p:spPr>
          <a:xfrm>
            <a:off x="7810356" y="1798002"/>
            <a:ext cx="912745" cy="899877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13"/>
          <a:stretch>
            <a:fillRect/>
          </a:stretch>
        </p:blipFill>
        <p:spPr>
          <a:xfrm>
            <a:off x="7401306" y="4850437"/>
            <a:ext cx="1196447" cy="887021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14"/>
          <a:stretch>
            <a:fillRect/>
          </a:stretch>
        </p:blipFill>
        <p:spPr>
          <a:xfrm>
            <a:off x="2805712" y="2697879"/>
            <a:ext cx="1086452" cy="1119935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15"/>
          <a:stretch>
            <a:fillRect/>
          </a:stretch>
        </p:blipFill>
        <p:spPr>
          <a:xfrm>
            <a:off x="2979067" y="4282948"/>
            <a:ext cx="574124" cy="2036465"/>
          </a:xfrm>
          <a:prstGeom prst="rect">
            <a:avLst/>
          </a:prstGeom>
        </p:spPr>
      </p:pic>
      <p:cxnSp>
        <p:nvCxnSpPr>
          <p:cNvPr id="22" name="Прямая со стрелкой 6"/>
          <p:cNvCxnSpPr/>
          <p:nvPr/>
        </p:nvCxnSpPr>
        <p:spPr bwMode="auto">
          <a:xfrm>
            <a:off x="2159694" y="1743814"/>
            <a:ext cx="72199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Прямая со стрелкой 6"/>
          <p:cNvCxnSpPr/>
          <p:nvPr/>
        </p:nvCxnSpPr>
        <p:spPr bwMode="auto">
          <a:xfrm>
            <a:off x="2083717" y="3246461"/>
            <a:ext cx="72199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Прямая со стрелкой 6"/>
          <p:cNvCxnSpPr/>
          <p:nvPr/>
        </p:nvCxnSpPr>
        <p:spPr bwMode="auto">
          <a:xfrm>
            <a:off x="7088361" y="2330367"/>
            <a:ext cx="72199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Прямая со стрелкой 6"/>
          <p:cNvCxnSpPr/>
          <p:nvPr/>
        </p:nvCxnSpPr>
        <p:spPr bwMode="auto">
          <a:xfrm>
            <a:off x="6701500" y="5391229"/>
            <a:ext cx="72199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886259" y="837233"/>
            <a:ext cx="2338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Поступление среды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736" y="817851"/>
            <a:ext cx="1877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+mn-lt"/>
              </a:rPr>
              <a:t>Отгрузка среды</a:t>
            </a:r>
          </a:p>
        </p:txBody>
      </p:sp>
      <p:cxnSp>
        <p:nvCxnSpPr>
          <p:cNvPr id="31" name="Прямая со стрелкой 6"/>
          <p:cNvCxnSpPr/>
          <p:nvPr/>
        </p:nvCxnSpPr>
        <p:spPr bwMode="auto">
          <a:xfrm>
            <a:off x="1785668" y="5301180"/>
            <a:ext cx="721995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698331" y="2360995"/>
            <a:ext cx="2609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Технологический блок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9598" y="4386361"/>
            <a:ext cx="2291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Емкость/резервуар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425" y="3992944"/>
            <a:ext cx="1325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Коллектор</a:t>
            </a: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Элементы балансовой схемы в </a:t>
            </a:r>
            <a:r>
              <a:rPr lang="en-US" sz="2800" b="1" dirty="0">
                <a:solidFill>
                  <a:schemeClr val="tx1"/>
                </a:solidFill>
              </a:rPr>
              <a:t>PAR</a:t>
            </a:r>
            <a:endParaRPr lang="ru-RU" sz="28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7415" y="4908007"/>
            <a:ext cx="1175246" cy="93902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98778" y="2336519"/>
            <a:ext cx="861342" cy="861766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A20C94A-BC1F-43A6-BFD8-ECD7E8CCF91A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169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2850"/>
            <a:ext cx="9144000" cy="5238750"/>
          </a:xfrm>
        </p:spPr>
        <p:txBody>
          <a:bodyPr/>
          <a:lstStyle/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Кодирование потоков</a:t>
            </a:r>
          </a:p>
        </p:txBody>
      </p:sp>
      <p:sp>
        <p:nvSpPr>
          <p:cNvPr id="9" name="Rounded Rectangle 14"/>
          <p:cNvSpPr/>
          <p:nvPr/>
        </p:nvSpPr>
        <p:spPr>
          <a:xfrm>
            <a:off x="286818" y="4524821"/>
            <a:ext cx="8570363" cy="160152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kern="0" dirty="0"/>
              <a:t>	Для удобства ориентирования по балансовой схеме потоки кодируются, по возможности, сверху-вниз, слева-направо, придерживаясь, принципа ветвления графа: «порядковый номер исходящих потоков объекта не должен быть выше номера входящих»</a:t>
            </a:r>
            <a:endParaRPr lang="ru-RU" sz="2000" b="1" kern="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36169" y="1389772"/>
            <a:ext cx="7581900" cy="757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endParaRPr lang="en-US" kern="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06654" y="2087233"/>
            <a:ext cx="7631430" cy="78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ru-RU" sz="3200" b="1" dirty="0"/>
              <a:t>11070110</a:t>
            </a:r>
            <a:endParaRPr lang="ru-RU" sz="3200" b="1" kern="0" dirty="0"/>
          </a:p>
        </p:txBody>
      </p:sp>
      <p:cxnSp>
        <p:nvCxnSpPr>
          <p:cNvPr id="10" name="Прямая со стрелкой 34"/>
          <p:cNvCxnSpPr>
            <a:endCxn id="14" idx="0"/>
          </p:cNvCxnSpPr>
          <p:nvPr/>
        </p:nvCxnSpPr>
        <p:spPr bwMode="auto">
          <a:xfrm flipH="1">
            <a:off x="2069832" y="2587570"/>
            <a:ext cx="1911395" cy="59682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1" name="Прямая соединительная линия 35"/>
          <p:cNvCxnSpPr/>
          <p:nvPr/>
        </p:nvCxnSpPr>
        <p:spPr bwMode="auto">
          <a:xfrm>
            <a:off x="3764254" y="2593025"/>
            <a:ext cx="37338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Прямая со стрелкой 36"/>
          <p:cNvCxnSpPr>
            <a:endCxn id="15" idx="0"/>
          </p:cNvCxnSpPr>
          <p:nvPr/>
        </p:nvCxnSpPr>
        <p:spPr bwMode="auto">
          <a:xfrm>
            <a:off x="5144142" y="2587570"/>
            <a:ext cx="1296499" cy="4811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3" name="Прямая соединительная линия 37"/>
          <p:cNvCxnSpPr/>
          <p:nvPr/>
        </p:nvCxnSpPr>
        <p:spPr bwMode="auto">
          <a:xfrm>
            <a:off x="4687644" y="2587570"/>
            <a:ext cx="70866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496598" y="3184394"/>
            <a:ext cx="1146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+mn-lt"/>
              </a:rPr>
              <a:t>Код цеха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7726" y="3068750"/>
            <a:ext cx="2325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+mn-lt"/>
              </a:rPr>
              <a:t>Порядковый номер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323331" y="1141978"/>
            <a:ext cx="8570363" cy="974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kern="0" dirty="0"/>
              <a:t>Потоки среды кодируются следующим образом:</a:t>
            </a:r>
          </a:p>
          <a:p>
            <a:pPr algn="ctr"/>
            <a:r>
              <a:rPr lang="ru-RU" sz="2000" b="1" kern="0" dirty="0"/>
              <a:t>«код </a:t>
            </a:r>
            <a:r>
              <a:rPr lang="ru-RU" sz="2000" b="1" kern="0" dirty="0" err="1"/>
              <a:t>цеха»«код</a:t>
            </a:r>
            <a:r>
              <a:rPr lang="ru-RU" sz="2000" b="1" kern="0" dirty="0"/>
              <a:t> </a:t>
            </a:r>
            <a:r>
              <a:rPr lang="ru-RU" sz="2000" b="1" kern="0" dirty="0" err="1"/>
              <a:t>участка»«четырехзначный</a:t>
            </a:r>
            <a:r>
              <a:rPr lang="ru-RU" sz="2000" b="1" kern="0" dirty="0"/>
              <a:t> порядковый номер потока»</a:t>
            </a:r>
          </a:p>
        </p:txBody>
      </p:sp>
      <p:cxnSp>
        <p:nvCxnSpPr>
          <p:cNvPr id="18" name="Прямая соединительная линия 35"/>
          <p:cNvCxnSpPr/>
          <p:nvPr/>
        </p:nvCxnSpPr>
        <p:spPr bwMode="auto">
          <a:xfrm>
            <a:off x="4235133" y="2597774"/>
            <a:ext cx="37338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Прямая со стрелкой 34"/>
          <p:cNvCxnSpPr>
            <a:endCxn id="21" idx="0"/>
          </p:cNvCxnSpPr>
          <p:nvPr/>
        </p:nvCxnSpPr>
        <p:spPr bwMode="auto">
          <a:xfrm flipH="1">
            <a:off x="3850317" y="2597774"/>
            <a:ext cx="587410" cy="91121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1" name="TextBox 20"/>
          <p:cNvSpPr txBox="1"/>
          <p:nvPr/>
        </p:nvSpPr>
        <p:spPr>
          <a:xfrm>
            <a:off x="3092121" y="3508992"/>
            <a:ext cx="1516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+mn-lt"/>
              </a:rPr>
              <a:t>Код участка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3E5643-D7BB-4209-8683-DEC1E4C71DD0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357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/>
          <p:cNvSpPr txBox="1">
            <a:spLocks/>
          </p:cNvSpPr>
          <p:nvPr/>
        </p:nvSpPr>
        <p:spPr bwMode="auto">
          <a:xfrm>
            <a:off x="457108" y="840360"/>
            <a:ext cx="7978806" cy="458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ru-RU" sz="2400" kern="0" dirty="0"/>
              <a:t>	Разберем на примере потока с кодом 11070040</a:t>
            </a:r>
            <a:endParaRPr lang="en-US" sz="2400" kern="0" dirty="0"/>
          </a:p>
        </p:txBody>
      </p:sp>
      <p:sp>
        <p:nvSpPr>
          <p:cNvPr id="33" name="Content Placeholder 2"/>
          <p:cNvSpPr txBox="1">
            <a:spLocks/>
          </p:cNvSpPr>
          <p:nvPr/>
        </p:nvSpPr>
        <p:spPr bwMode="auto">
          <a:xfrm>
            <a:off x="545031" y="6198530"/>
            <a:ext cx="8151443" cy="410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ru-RU" kern="0" dirty="0">
                <a:solidFill>
                  <a:srgbClr val="FF0000"/>
                </a:solidFill>
              </a:rPr>
              <a:t>Важно знать единицы измерения, в которых выражены значения тегов</a:t>
            </a:r>
            <a:endParaRPr lang="en-US" kern="0" dirty="0">
              <a:solidFill>
                <a:srgbClr val="FF0000"/>
              </a:solidFill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Идентификация тегов потоков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635" y="1568487"/>
            <a:ext cx="966461" cy="1152886"/>
          </a:xfrm>
          <a:prstGeom prst="rect">
            <a:avLst/>
          </a:prstGeom>
        </p:spPr>
      </p:pic>
      <p:cxnSp>
        <p:nvCxnSpPr>
          <p:cNvPr id="37" name="Прямая со стрелкой 34"/>
          <p:cNvCxnSpPr/>
          <p:nvPr/>
        </p:nvCxnSpPr>
        <p:spPr bwMode="auto">
          <a:xfrm flipH="1">
            <a:off x="2206868" y="2700077"/>
            <a:ext cx="1883771" cy="87981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8" name="TextBox 37"/>
          <p:cNvSpPr txBox="1"/>
          <p:nvPr/>
        </p:nvSpPr>
        <p:spPr>
          <a:xfrm>
            <a:off x="1210564" y="5172242"/>
            <a:ext cx="1516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нм3/ч</a:t>
            </a:r>
            <a:endParaRPr lang="ru-RU" sz="2000" dirty="0">
              <a:latin typeface="+mn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88176" y="3641106"/>
            <a:ext cx="2161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LP11.7.IM_UUG1.FN</a:t>
            </a:r>
            <a:r>
              <a:rPr lang="en-US" dirty="0"/>
              <a:t> </a:t>
            </a:r>
            <a:endParaRPr lang="ru-RU" dirty="0"/>
          </a:p>
        </p:txBody>
      </p:sp>
      <p:cxnSp>
        <p:nvCxnSpPr>
          <p:cNvPr id="15" name="Прямая со стрелкой 34"/>
          <p:cNvCxnSpPr>
            <a:stCxn id="32" idx="2"/>
            <a:endCxn id="38" idx="0"/>
          </p:cNvCxnSpPr>
          <p:nvPr/>
        </p:nvCxnSpPr>
        <p:spPr bwMode="auto">
          <a:xfrm flipH="1">
            <a:off x="1968760" y="4010438"/>
            <a:ext cx="1" cy="11618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8" name="TextBox 17"/>
          <p:cNvSpPr txBox="1"/>
          <p:nvPr/>
        </p:nvSpPr>
        <p:spPr>
          <a:xfrm>
            <a:off x="3733956" y="5172242"/>
            <a:ext cx="1516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МПа</a:t>
            </a:r>
            <a:endParaRPr lang="ru-RU" sz="2000" dirty="0"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506145" y="3641106"/>
            <a:ext cx="19720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LP11.7.IM_UUG1.P</a:t>
            </a:r>
            <a:endParaRPr lang="ru-RU" dirty="0"/>
          </a:p>
        </p:txBody>
      </p:sp>
      <p:cxnSp>
        <p:nvCxnSpPr>
          <p:cNvPr id="20" name="Прямая со стрелкой 34"/>
          <p:cNvCxnSpPr>
            <a:stCxn id="19" idx="2"/>
            <a:endCxn id="18" idx="0"/>
          </p:cNvCxnSpPr>
          <p:nvPr/>
        </p:nvCxnSpPr>
        <p:spPr bwMode="auto">
          <a:xfrm>
            <a:off x="4492152" y="4010438"/>
            <a:ext cx="0" cy="11618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1" name="TextBox 20"/>
          <p:cNvSpPr txBox="1"/>
          <p:nvPr/>
        </p:nvSpPr>
        <p:spPr>
          <a:xfrm>
            <a:off x="6330215" y="5171051"/>
            <a:ext cx="1516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14234" y="3639915"/>
            <a:ext cx="1948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LP11.7.IM_UUG1.T</a:t>
            </a:r>
            <a:endParaRPr lang="ru-RU" dirty="0"/>
          </a:p>
        </p:txBody>
      </p:sp>
      <p:cxnSp>
        <p:nvCxnSpPr>
          <p:cNvPr id="24" name="Прямая со стрелкой 34"/>
          <p:cNvCxnSpPr>
            <a:stCxn id="22" idx="2"/>
            <a:endCxn id="21" idx="0"/>
          </p:cNvCxnSpPr>
          <p:nvPr/>
        </p:nvCxnSpPr>
        <p:spPr bwMode="auto">
          <a:xfrm>
            <a:off x="7088411" y="4009247"/>
            <a:ext cx="0" cy="11618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5" name="Прямая со стрелкой 34"/>
          <p:cNvCxnSpPr>
            <a:endCxn id="19" idx="0"/>
          </p:cNvCxnSpPr>
          <p:nvPr/>
        </p:nvCxnSpPr>
        <p:spPr bwMode="auto">
          <a:xfrm>
            <a:off x="4452863" y="2755774"/>
            <a:ext cx="39289" cy="88533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7" name="Прямая со стрелкой 34"/>
          <p:cNvCxnSpPr>
            <a:endCxn id="22" idx="0"/>
          </p:cNvCxnSpPr>
          <p:nvPr/>
        </p:nvCxnSpPr>
        <p:spPr bwMode="auto">
          <a:xfrm>
            <a:off x="4888211" y="2601704"/>
            <a:ext cx="2200200" cy="103821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75E9873-EC57-4D45-AD1D-41A907F2BEEB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284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/>
          <p:cNvSpPr txBox="1">
            <a:spLocks/>
          </p:cNvSpPr>
          <p:nvPr/>
        </p:nvSpPr>
        <p:spPr bwMode="auto">
          <a:xfrm>
            <a:off x="457108" y="717272"/>
            <a:ext cx="7978806" cy="458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ru-RU" sz="2400" kern="0" dirty="0"/>
              <a:t>	Разберем на примере потока с кодом 11070010</a:t>
            </a:r>
            <a:endParaRPr lang="en-US" sz="2400" kern="0" dirty="0"/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Идентификация тегов скважин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724" y="1295997"/>
            <a:ext cx="913950" cy="8636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587752" y="1318493"/>
            <a:ext cx="63872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- данный элемент соответствует Групповые замерные установки ГЗУ 1194</a:t>
            </a:r>
            <a:endParaRPr lang="ru-RU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92" y="2384163"/>
            <a:ext cx="3489520" cy="4097949"/>
          </a:xfrm>
          <a:prstGeom prst="rect">
            <a:avLst/>
          </a:prstGeom>
        </p:spPr>
      </p:pic>
      <p:sp>
        <p:nvSpPr>
          <p:cNvPr id="7" name="Right Brace 6"/>
          <p:cNvSpPr/>
          <p:nvPr/>
        </p:nvSpPr>
        <p:spPr>
          <a:xfrm>
            <a:off x="4524812" y="3015762"/>
            <a:ext cx="580293" cy="3466350"/>
          </a:xfrm>
          <a:prstGeom prst="rightBrac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Rectangle 28"/>
          <p:cNvSpPr/>
          <p:nvPr/>
        </p:nvSpPr>
        <p:spPr>
          <a:xfrm>
            <a:off x="5534748" y="4318837"/>
            <a:ext cx="30598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Перечень скважин, </a:t>
            </a:r>
          </a:p>
          <a:p>
            <a:pPr algn="ctr"/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относящихся к данной ГЗУ</a:t>
            </a:r>
            <a:endParaRPr lang="ru-RU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35F276B-59D2-411B-915E-7AF220A18B1C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323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/>
          <p:cNvSpPr txBox="1">
            <a:spLocks/>
          </p:cNvSpPr>
          <p:nvPr/>
        </p:nvSpPr>
        <p:spPr bwMode="auto">
          <a:xfrm>
            <a:off x="457108" y="717272"/>
            <a:ext cx="7978806" cy="458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ru-RU" sz="2400" kern="0" dirty="0"/>
              <a:t>	Каждая скважина имеет ряд параметров, которые сконфигурированы в </a:t>
            </a:r>
            <a:r>
              <a:rPr lang="en-US" sz="2400" kern="0" dirty="0"/>
              <a:t>OIS</a:t>
            </a:r>
            <a:r>
              <a:rPr lang="ru-RU" sz="2400" kern="0" dirty="0"/>
              <a:t>/</a:t>
            </a:r>
            <a:r>
              <a:rPr lang="en-US" sz="2400" kern="0" dirty="0"/>
              <a:t>PHD</a:t>
            </a: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Идентификация тегов скважин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953140"/>
              </p:ext>
            </p:extLst>
          </p:nvPr>
        </p:nvGraphicFramePr>
        <p:xfrm>
          <a:off x="527446" y="2781299"/>
          <a:ext cx="8150561" cy="2773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Параметр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Тег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Ед. изм.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Плотность сепарированной нефти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LP11.77.K01.NSKV113.DENSNEFT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г/см3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Плотность попутной воды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LP11.77.K01.NSKV113.DENSWATER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г/см3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Дебит по газу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LP11.77.K01.NSKV113.FI101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нм3/сут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Дебит по жидкости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LP11.77.K01.NSKV113.FI102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м3/сут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Дебит жидкости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LP11.77.K01.NSKV113.FI203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м3/сут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Дебит нефти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LP11.77.K01.NSKV113.FI204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т/сут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Обводненность (объемная)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LP11.77.K01.NSKV113.FI205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%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</a:rPr>
                        <a:t>Газовый факто</a:t>
                      </a:r>
                      <a:r>
                        <a:rPr lang="en-US" sz="1600" u="none" strike="noStrike">
                          <a:effectLst/>
                        </a:rPr>
                        <a:t>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LP11.77.K01.NSKV113.GASFACTOR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</a:rPr>
                        <a:t>нм3/т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98846" y="2184990"/>
            <a:ext cx="86868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latin typeface="Calibri" panose="020F0502020204030204" pitchFamily="34" charset="0"/>
              </a:rPr>
              <a:t>Параметры скважины №113 - куста №01 - месторождения им. Сухарева(77)</a:t>
            </a:r>
            <a:endParaRPr lang="ru-RU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CF922B-DCA5-47D9-BA27-E74169BAA764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417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Преобразование исходных данных</a:t>
            </a:r>
          </a:p>
        </p:txBody>
      </p:sp>
      <p:sp>
        <p:nvSpPr>
          <p:cNvPr id="6" name="Rounded Rectangle 14"/>
          <p:cNvSpPr/>
          <p:nvPr/>
        </p:nvSpPr>
        <p:spPr>
          <a:xfrm>
            <a:off x="259107" y="1814945"/>
            <a:ext cx="8570363" cy="32927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kern="0" dirty="0">
                <a:solidFill>
                  <a:schemeClr val="tx1"/>
                </a:solidFill>
              </a:rPr>
              <a:t>	</a:t>
            </a:r>
            <a:r>
              <a:rPr lang="ru-RU" sz="2000" dirty="0">
                <a:solidFill>
                  <a:schemeClr val="tx1"/>
                </a:solidFill>
              </a:rPr>
              <a:t>Для проведения расчетов по составлению балансов и согласованию данных все исходные (измеренные) значения должны быть представлены в одних и тех же единицах измерения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</a:t>
            </a:r>
            <a:r>
              <a:rPr lang="ru-RU" sz="2000" dirty="0">
                <a:solidFill>
                  <a:schemeClr val="tx1"/>
                </a:solidFill>
              </a:rPr>
              <a:t>Единицы измерений необработанных значений могут быть различны для различных измерений. При этом значения измерений могут зависеть от типа датчика, а также – от состояния и параметров измеряемой среды. Поэтому для каждого измерения должны быть определены соответствующие преобразования для его приведения к одним и тем же балансовым единицам</a:t>
            </a:r>
            <a:endParaRPr lang="en-US" sz="2000" kern="0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A931382-542D-459B-9396-6F093F1A07E7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082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Преобразование исходных данных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967737" y="6264553"/>
                <a:ext cx="1136850" cy="457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>
                    <a:solidFill>
                      <a:srgbClr val="FF0000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г</m:t>
                        </m:r>
                      </m:num>
                      <m:den>
                        <m: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см3</m:t>
                        </m:r>
                      </m:den>
                    </m:f>
                  </m:oMath>
                </a14:m>
                <a:r>
                  <a:rPr lang="ru-RU" dirty="0">
                    <a:solidFill>
                      <a:srgbClr val="FF0000"/>
                    </a:solidFill>
                  </a:rPr>
                  <a:t> =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т</m:t>
                        </m:r>
                      </m:num>
                      <m:den>
                        <m: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м3</m:t>
                        </m:r>
                      </m:den>
                    </m:f>
                  </m:oMath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737" y="6264553"/>
                <a:ext cx="1136850" cy="457561"/>
              </a:xfrm>
              <a:prstGeom prst="rect">
                <a:avLst/>
              </a:prstGeom>
              <a:blipFill rotWithShape="0">
                <a:blip r:embed="rId5"/>
                <a:stretch>
                  <a:fillRect l="-4278" t="-1333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5A621F9-9398-4C66-9B12-0DE0E828ED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606" y="786163"/>
            <a:ext cx="6678099" cy="595411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2DF89E-747B-4187-B104-54A5542B0017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151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Преобразование исходных данных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967737" y="6264553"/>
                <a:ext cx="1136850" cy="457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>
                    <a:solidFill>
                      <a:srgbClr val="FF0000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г</m:t>
                        </m:r>
                      </m:num>
                      <m:den>
                        <m: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см3</m:t>
                        </m:r>
                      </m:den>
                    </m:f>
                  </m:oMath>
                </a14:m>
                <a:r>
                  <a:rPr lang="ru-RU" dirty="0">
                    <a:solidFill>
                      <a:srgbClr val="FF0000"/>
                    </a:solidFill>
                  </a:rPr>
                  <a:t> =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т</m:t>
                        </m:r>
                      </m:num>
                      <m:den>
                        <m:r>
                          <a:rPr lang="ru-R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м3</m:t>
                        </m:r>
                      </m:den>
                    </m:f>
                  </m:oMath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737" y="6264553"/>
                <a:ext cx="1136850" cy="457561"/>
              </a:xfrm>
              <a:prstGeom prst="rect">
                <a:avLst/>
              </a:prstGeom>
              <a:blipFill rotWithShape="0">
                <a:blip r:embed="rId5"/>
                <a:stretch>
                  <a:fillRect l="-4278" t="-1333"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D99AE53-B096-42D7-8F8F-584807D52F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668" y="1427543"/>
            <a:ext cx="7065498" cy="418546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56F47F-20AF-4718-9BFB-BF83504CDDD4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4135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774040" y="4111525"/>
            <a:ext cx="7631430" cy="78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b="1" dirty="0"/>
              <a:t>LP11</a:t>
            </a:r>
            <a:r>
              <a:rPr lang="ru-RU" sz="3200" b="1" dirty="0"/>
              <a:t>.</a:t>
            </a:r>
            <a:r>
              <a:rPr lang="en-US" sz="3200" b="1" dirty="0"/>
              <a:t>RR.1107</a:t>
            </a:r>
            <a:r>
              <a:rPr lang="ru-RU" sz="3200" b="1" dirty="0"/>
              <a:t>0</a:t>
            </a:r>
            <a:r>
              <a:rPr lang="en-US" sz="3200" b="1" dirty="0"/>
              <a:t>05</a:t>
            </a:r>
            <a:r>
              <a:rPr lang="ru-RU" sz="3200" b="1" dirty="0"/>
              <a:t>0</a:t>
            </a:r>
            <a:endParaRPr lang="ru-RU" sz="3200" b="1" kern="0" dirty="0"/>
          </a:p>
        </p:txBody>
      </p:sp>
      <p:cxnSp>
        <p:nvCxnSpPr>
          <p:cNvPr id="13" name="Прямая со стрелкой 12"/>
          <p:cNvCxnSpPr>
            <a:endCxn id="17" idx="0"/>
          </p:cNvCxnSpPr>
          <p:nvPr/>
        </p:nvCxnSpPr>
        <p:spPr bwMode="auto">
          <a:xfrm flipH="1">
            <a:off x="2138574" y="4622066"/>
            <a:ext cx="1316803" cy="75708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4" name="Прямая соединительная линия 13"/>
          <p:cNvCxnSpPr/>
          <p:nvPr/>
        </p:nvCxnSpPr>
        <p:spPr bwMode="auto">
          <a:xfrm>
            <a:off x="3042138" y="4622066"/>
            <a:ext cx="892553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Прямая со стрелкой 14"/>
          <p:cNvCxnSpPr>
            <a:endCxn id="18" idx="0"/>
          </p:cNvCxnSpPr>
          <p:nvPr/>
        </p:nvCxnSpPr>
        <p:spPr bwMode="auto">
          <a:xfrm>
            <a:off x="5147351" y="4622066"/>
            <a:ext cx="1739034" cy="75708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6" name="Прямая соединительная линия 15"/>
          <p:cNvCxnSpPr/>
          <p:nvPr/>
        </p:nvCxnSpPr>
        <p:spPr bwMode="auto">
          <a:xfrm>
            <a:off x="4554415" y="4622066"/>
            <a:ext cx="163537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556555" y="5379147"/>
            <a:ext cx="1164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Цех №11</a:t>
            </a:r>
            <a:endParaRPr lang="ru-RU" sz="20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7351" y="5379147"/>
            <a:ext cx="3478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+mn-lt"/>
              </a:rPr>
              <a:t>Код потока балансовой схемы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Преобразование исходных данных</a:t>
            </a:r>
          </a:p>
        </p:txBody>
      </p:sp>
      <p:sp>
        <p:nvSpPr>
          <p:cNvPr id="21" name="Rounded Rectangle 14"/>
          <p:cNvSpPr/>
          <p:nvPr/>
        </p:nvSpPr>
        <p:spPr>
          <a:xfrm>
            <a:off x="272962" y="2615453"/>
            <a:ext cx="8570363" cy="974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kern="0" dirty="0"/>
              <a:t>	Кодировка таких тегов выглядит следующим образом:</a:t>
            </a:r>
          </a:p>
          <a:p>
            <a:pPr algn="ctr"/>
            <a:r>
              <a:rPr lang="ru-RU" sz="2000" kern="0" dirty="0"/>
              <a:t>«</a:t>
            </a:r>
            <a:r>
              <a:rPr lang="ru-RU" sz="2000" b="1" kern="0" dirty="0"/>
              <a:t>код цеха».</a:t>
            </a:r>
            <a:r>
              <a:rPr lang="en-US" sz="2000" b="1" kern="0" dirty="0"/>
              <a:t>RR.</a:t>
            </a:r>
            <a:r>
              <a:rPr lang="ru-RU" sz="2000" b="1" kern="0" dirty="0"/>
              <a:t>«код потока»</a:t>
            </a:r>
          </a:p>
        </p:txBody>
      </p:sp>
      <p:sp>
        <p:nvSpPr>
          <p:cNvPr id="22" name="Rounded Rectangle 14"/>
          <p:cNvSpPr/>
          <p:nvPr/>
        </p:nvSpPr>
        <p:spPr>
          <a:xfrm>
            <a:off x="257073" y="977785"/>
            <a:ext cx="8570363" cy="974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kern="0" dirty="0"/>
              <a:t>	</a:t>
            </a:r>
            <a:r>
              <a:rPr lang="ru-RU" sz="2000" kern="0" dirty="0">
                <a:solidFill>
                  <a:schemeClr val="tx1"/>
                </a:solidFill>
              </a:rPr>
              <a:t>Вычисленные значения расходов потоков являются «сырыми» данными, которые используются при сведении балансов в </a:t>
            </a:r>
            <a:r>
              <a:rPr lang="en-US" sz="2000" kern="0" dirty="0">
                <a:solidFill>
                  <a:schemeClr val="tx1"/>
                </a:solidFill>
              </a:rPr>
              <a:t>PAR</a:t>
            </a:r>
            <a:r>
              <a:rPr lang="ru-RU" sz="2000" kern="0" dirty="0">
                <a:solidFill>
                  <a:schemeClr val="tx1"/>
                </a:solidFill>
              </a:rPr>
              <a:t>, и записываются в теги, соответствующие потокам</a:t>
            </a:r>
            <a:endParaRPr lang="en-US" sz="2000" kern="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E40BD3-677E-4C6E-BF33-4FFE6169DB6E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491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/>
          <p:cNvSpPr txBox="1">
            <a:spLocks/>
          </p:cNvSpPr>
          <p:nvPr/>
        </p:nvSpPr>
        <p:spPr bwMode="auto">
          <a:xfrm>
            <a:off x="671374" y="1238250"/>
            <a:ext cx="7978806" cy="87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ru-RU" kern="0" dirty="0">
                <a:solidFill>
                  <a:schemeClr val="tx1"/>
                </a:solidFill>
              </a:rPr>
              <a:t>	Запасы продукта в резервуарах/емкостях</a:t>
            </a:r>
            <a:r>
              <a:rPr lang="en-US" kern="0" dirty="0">
                <a:solidFill>
                  <a:schemeClr val="tx1"/>
                </a:solidFill>
              </a:rPr>
              <a:t>  (G)</a:t>
            </a:r>
            <a:r>
              <a:rPr lang="ru-RU" kern="0" dirty="0">
                <a:solidFill>
                  <a:schemeClr val="tx1"/>
                </a:solidFill>
              </a:rPr>
              <a:t> можно описать следующей зависимостью:</a:t>
            </a:r>
            <a:endParaRPr lang="en-US" kern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39249" y="2796912"/>
                <a:ext cx="26824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249" y="2796912"/>
                <a:ext cx="2682466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 bwMode="auto">
              <a:xfrm>
                <a:off x="2201692" y="3972606"/>
                <a:ext cx="4918169" cy="1647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27013" indent="-2270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53A1"/>
                  </a:buClr>
                  <a:buChar char="•"/>
                  <a:defRPr sz="200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568325" indent="-2270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4D4D4D"/>
                  </a:buClr>
                  <a:buChar char="–"/>
                  <a:defRPr>
                    <a:solidFill>
                      <a:srgbClr val="404040"/>
                    </a:solidFill>
                    <a:latin typeface="+mn-lt"/>
                  </a:defRPr>
                </a:lvl2pPr>
                <a:lvl3pPr marL="857250" indent="-17462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568733"/>
                  </a:buClr>
                  <a:buChar char="•"/>
                  <a:defRPr sz="1600">
                    <a:solidFill>
                      <a:srgbClr val="404040"/>
                    </a:solidFill>
                    <a:latin typeface="+mn-lt"/>
                  </a:defRPr>
                </a:lvl3pPr>
                <a:lvl4pPr marL="1201738" indent="-227013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400">
                    <a:solidFill>
                      <a:srgbClr val="404040"/>
                    </a:solidFill>
                    <a:latin typeface="+mn-lt"/>
                  </a:defRPr>
                </a:lvl4pPr>
                <a:lvl5pPr marL="1597025" indent="-1682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rgbClr val="404040"/>
                    </a:solidFill>
                    <a:latin typeface="+mn-lt"/>
                  </a:defRPr>
                </a:lvl5pPr>
                <a:lvl6pPr marL="2054225" indent="-1682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rgbClr val="404040"/>
                    </a:solidFill>
                    <a:latin typeface="+mn-lt"/>
                  </a:defRPr>
                </a:lvl6pPr>
                <a:lvl7pPr marL="2511425" indent="-1682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rgbClr val="404040"/>
                    </a:solidFill>
                    <a:latin typeface="+mn-lt"/>
                  </a:defRPr>
                </a:lvl7pPr>
                <a:lvl8pPr marL="2968625" indent="-1682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rgbClr val="404040"/>
                    </a:solidFill>
                    <a:latin typeface="+mn-lt"/>
                  </a:defRPr>
                </a:lvl8pPr>
                <a:lvl9pPr marL="3425825" indent="-168275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rgbClr val="404040"/>
                    </a:solidFill>
                    <a:latin typeface="+mn-lt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ru-RU" kern="0" dirty="0">
                    <a:solidFill>
                      <a:schemeClr val="tx1"/>
                    </a:solidFill>
                  </a:rPr>
                  <a:t> где: </a:t>
                </a:r>
                <a:endParaRPr lang="en-US" kern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r>
                  <a:rPr lang="en-US" i="1" dirty="0">
                    <a:solidFill>
                      <a:schemeClr val="tx1"/>
                    </a:solidFill>
                  </a:rPr>
                  <a:t>V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– объем продукта</a:t>
                </a:r>
                <a:endParaRPr lang="en-US" kern="0" dirty="0">
                  <a:solidFill>
                    <a:schemeClr val="tx1"/>
                  </a:solidFill>
                </a:endParaRPr>
              </a:p>
              <a:p>
                <a:pPr marL="0" indent="0">
                  <a:buFontTx/>
                  <a:buNone/>
                </a:pPr>
                <a:r>
                  <a:rPr lang="ru-RU" kern="0" dirty="0">
                    <a:solidFill>
                      <a:schemeClr val="tx1"/>
                    </a:solidFill>
                  </a:rPr>
                  <a:t> </a:t>
                </a:r>
                <a:r>
                  <a:rPr lang="en-US" i="1" kern="0" dirty="0">
                    <a:solidFill>
                      <a:schemeClr val="tx1"/>
                    </a:solidFill>
                  </a:rPr>
                  <a:t>L</a:t>
                </a:r>
                <a:r>
                  <a:rPr lang="en-US" kern="0" dirty="0">
                    <a:solidFill>
                      <a:schemeClr val="tx1"/>
                    </a:solidFill>
                  </a:rPr>
                  <a:t> – </a:t>
                </a:r>
                <a:r>
                  <a:rPr lang="ru-RU" kern="0" dirty="0">
                    <a:solidFill>
                      <a:schemeClr val="tx1"/>
                    </a:solidFill>
                  </a:rPr>
                  <a:t>уровень </a:t>
                </a:r>
                <a:r>
                  <a:rPr lang="ru-RU" kern="0" dirty="0" err="1">
                    <a:solidFill>
                      <a:schemeClr val="tx1"/>
                    </a:solidFill>
                  </a:rPr>
                  <a:t>взлива</a:t>
                </a:r>
                <a:r>
                  <a:rPr lang="ru-RU" kern="0" dirty="0">
                    <a:solidFill>
                      <a:schemeClr val="tx1"/>
                    </a:solidFill>
                  </a:rPr>
                  <a:t> в резервуаре</a:t>
                </a:r>
              </a:p>
              <a:p>
                <a:pPr marL="0" indent="0">
                  <a:buFontTx/>
                  <a:buNone/>
                </a:pPr>
                <a:r>
                  <a:rPr lang="ru-RU" kern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ru-RU" kern="0" dirty="0">
                    <a:solidFill>
                      <a:schemeClr val="tx1"/>
                    </a:solidFill>
                  </a:rPr>
                  <a:t> – плотность среды в резервуаре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1692" y="3972606"/>
                <a:ext cx="4918169" cy="1647144"/>
              </a:xfrm>
              <a:prstGeom prst="rect">
                <a:avLst/>
              </a:prstGeom>
              <a:blipFill>
                <a:blip r:embed="rId3"/>
                <a:stretch>
                  <a:fillRect l="-124" t="-22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Скругленный прямоугольник 7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Преобразование исходных данных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246A64-1864-4203-914C-455F5B7F653B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368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774040" y="3771864"/>
            <a:ext cx="7631430" cy="78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b="1" dirty="0"/>
              <a:t>LP11</a:t>
            </a:r>
            <a:r>
              <a:rPr lang="ru-RU" sz="3200" b="1" dirty="0"/>
              <a:t>.</a:t>
            </a:r>
            <a:r>
              <a:rPr lang="en-US" sz="3200" b="1" dirty="0"/>
              <a:t>TR.T_1107</a:t>
            </a:r>
            <a:endParaRPr lang="ru-RU" sz="3200" b="1" kern="0" dirty="0"/>
          </a:p>
        </p:txBody>
      </p:sp>
      <p:cxnSp>
        <p:nvCxnSpPr>
          <p:cNvPr id="13" name="Прямая со стрелкой 12"/>
          <p:cNvCxnSpPr/>
          <p:nvPr/>
        </p:nvCxnSpPr>
        <p:spPr bwMode="auto">
          <a:xfrm flipH="1">
            <a:off x="2298948" y="4282405"/>
            <a:ext cx="1607230" cy="75708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4" name="Прямая соединительная линия 13"/>
          <p:cNvCxnSpPr/>
          <p:nvPr/>
        </p:nvCxnSpPr>
        <p:spPr bwMode="auto">
          <a:xfrm>
            <a:off x="3686588" y="4282405"/>
            <a:ext cx="43917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Прямая со стрелкой 14"/>
          <p:cNvCxnSpPr>
            <a:endCxn id="18" idx="0"/>
          </p:cNvCxnSpPr>
          <p:nvPr/>
        </p:nvCxnSpPr>
        <p:spPr bwMode="auto">
          <a:xfrm>
            <a:off x="5220070" y="4282405"/>
            <a:ext cx="1541215" cy="75708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6" name="Прямая соединительная линия 15"/>
          <p:cNvCxnSpPr>
            <a:cxnSpLocks/>
          </p:cNvCxnSpPr>
          <p:nvPr/>
        </p:nvCxnSpPr>
        <p:spPr bwMode="auto">
          <a:xfrm>
            <a:off x="4726745" y="4282405"/>
            <a:ext cx="120982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222631" y="5039486"/>
            <a:ext cx="3077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+mn-lt"/>
              </a:rPr>
              <a:t>Код резервуара на схеме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Преобразование исходных данных</a:t>
            </a:r>
          </a:p>
        </p:txBody>
      </p:sp>
      <p:sp>
        <p:nvSpPr>
          <p:cNvPr id="22" name="Rounded Rectangle 14"/>
          <p:cNvSpPr/>
          <p:nvPr/>
        </p:nvSpPr>
        <p:spPr>
          <a:xfrm>
            <a:off x="272962" y="2671100"/>
            <a:ext cx="8570363" cy="974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kern="0" dirty="0"/>
              <a:t>Кодировка таких тегов выглядит следующим образом:</a:t>
            </a:r>
          </a:p>
          <a:p>
            <a:pPr algn="ctr"/>
            <a:r>
              <a:rPr lang="en-US" sz="2000" b="1" kern="0" dirty="0"/>
              <a:t>LP</a:t>
            </a:r>
            <a:r>
              <a:rPr lang="ru-RU" sz="2000" kern="0" dirty="0"/>
              <a:t>«</a:t>
            </a:r>
            <a:r>
              <a:rPr lang="ru-RU" sz="2000" b="1" kern="0" dirty="0"/>
              <a:t>код цеха/отделения».</a:t>
            </a:r>
            <a:r>
              <a:rPr lang="en-US" sz="2000" b="1" kern="0" dirty="0"/>
              <a:t>TR.</a:t>
            </a:r>
            <a:r>
              <a:rPr lang="ru-RU" sz="2000" b="1" kern="0" dirty="0"/>
              <a:t>«код объекта на схеме»</a:t>
            </a:r>
          </a:p>
        </p:txBody>
      </p:sp>
      <p:sp>
        <p:nvSpPr>
          <p:cNvPr id="24" name="Rounded Rectangle 14"/>
          <p:cNvSpPr/>
          <p:nvPr/>
        </p:nvSpPr>
        <p:spPr>
          <a:xfrm>
            <a:off x="286817" y="1146777"/>
            <a:ext cx="8570363" cy="9746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kern="0" dirty="0">
                <a:solidFill>
                  <a:schemeClr val="tx1"/>
                </a:solidFill>
              </a:rPr>
              <a:t>	Полученные в результате пересчета значения запасов в резервуарах/емкостях записываются соответствующие теги</a:t>
            </a:r>
            <a:endParaRPr lang="en-US" sz="2000" kern="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16929" y="5039486"/>
            <a:ext cx="1164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Цех №11</a:t>
            </a:r>
            <a:endParaRPr lang="ru-RU" sz="2000" dirty="0">
              <a:latin typeface="+mn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A2A06A6-E983-4AE5-A055-E23DB3EB554F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745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/>
          <p:cNvSpPr txBox="1">
            <a:spLocks/>
          </p:cNvSpPr>
          <p:nvPr/>
        </p:nvSpPr>
        <p:spPr bwMode="auto">
          <a:xfrm>
            <a:off x="254977" y="840360"/>
            <a:ext cx="8180937" cy="794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ru-RU" sz="2400" kern="0" dirty="0"/>
              <a:t>	Разберем на примере потока объекта 1107</a:t>
            </a:r>
            <a:endParaRPr lang="en-US" sz="2400" kern="0" dirty="0"/>
          </a:p>
        </p:txBody>
      </p:sp>
      <p:sp>
        <p:nvSpPr>
          <p:cNvPr id="33" name="Content Placeholder 2"/>
          <p:cNvSpPr txBox="1">
            <a:spLocks/>
          </p:cNvSpPr>
          <p:nvPr/>
        </p:nvSpPr>
        <p:spPr bwMode="auto">
          <a:xfrm>
            <a:off x="342900" y="5638260"/>
            <a:ext cx="8616461" cy="95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ru-RU" kern="0" dirty="0">
                <a:solidFill>
                  <a:srgbClr val="FF0000"/>
                </a:solidFill>
              </a:rPr>
              <a:t>Если тег объема продукта, отсутствует необходимо использовать </a:t>
            </a:r>
            <a:r>
              <a:rPr lang="ru-RU" kern="0" dirty="0" err="1">
                <a:solidFill>
                  <a:srgbClr val="FF0000"/>
                </a:solidFill>
              </a:rPr>
              <a:t>градуировочную</a:t>
            </a:r>
            <a:r>
              <a:rPr lang="ru-RU" kern="0" dirty="0">
                <a:solidFill>
                  <a:srgbClr val="FF0000"/>
                </a:solidFill>
              </a:rPr>
              <a:t> таблицу или формулу пересчета показаний уровня в объем</a:t>
            </a:r>
            <a:endParaRPr lang="en-US" kern="0" dirty="0">
              <a:solidFill>
                <a:srgbClr val="FF0000"/>
              </a:solidFill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Идентификация тегов объектов с запасами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684017"/>
            <a:ext cx="1827900" cy="14605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2514"/>
              </p:ext>
            </p:extLst>
          </p:nvPr>
        </p:nvGraphicFramePr>
        <p:xfrm>
          <a:off x="2461845" y="2133441"/>
          <a:ext cx="6497516" cy="2561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3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4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413">
                <a:tc rowSpan="2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Уровень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Объем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Плотность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4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</a:rPr>
                        <a:t>Тег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</a:rPr>
                        <a:t>Ед. изм.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</a:rPr>
                        <a:t>Тег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</a:rPr>
                        <a:t>Ед. изм.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</a:rPr>
                        <a:t>Тег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</a:rPr>
                        <a:t>Ед. Изм.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41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Емкость 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LP11.7.L1_2.P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</a:rPr>
                        <a:t>м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LP11.7.V1_21_1.P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</a:rPr>
                        <a:t>м3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LP11.7.MM_1.QG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</a:rPr>
                        <a:t>кг/м3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41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Емкость 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LP11.7.L1_3.P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</a:rPr>
                        <a:t>м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LP11.7.V1_22_1.P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effectLst/>
                        </a:rPr>
                        <a:t>м3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LP11.7.MM_2.QG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effectLst/>
                        </a:rPr>
                        <a:t>кг/м3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38F9D2F-099F-4AAC-BBF3-EBAE0877B8F7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4786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 txBox="1">
            <a:spLocks/>
          </p:cNvSpPr>
          <p:nvPr/>
        </p:nvSpPr>
        <p:spPr bwMode="auto">
          <a:xfrm>
            <a:off x="597578" y="2260348"/>
            <a:ext cx="7948843" cy="254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53A1"/>
              </a:buClr>
              <a:buChar char="•"/>
              <a:defRPr sz="20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568325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>
                <a:solidFill>
                  <a:srgbClr val="404040"/>
                </a:solidFill>
                <a:latin typeface="+mn-lt"/>
              </a:defRPr>
            </a:lvl2pPr>
            <a:lvl3pPr marL="857250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568733"/>
              </a:buClr>
              <a:buChar char="•"/>
              <a:defRPr sz="1600">
                <a:solidFill>
                  <a:srgbClr val="404040"/>
                </a:solidFill>
                <a:latin typeface="+mn-lt"/>
              </a:defRPr>
            </a:lvl3pPr>
            <a:lvl4pPr marL="12017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404040"/>
                </a:solidFill>
                <a:latin typeface="+mn-lt"/>
              </a:defRPr>
            </a:lvl4pPr>
            <a:lvl5pPr marL="15970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5pPr>
            <a:lvl6pPr marL="20542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6pPr>
            <a:lvl7pPr marL="25114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7pPr>
            <a:lvl8pPr marL="29686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8pPr>
            <a:lvl9pPr marL="3425825" indent="-16827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404040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endParaRPr lang="en-US" sz="2400" kern="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Подготовка исходных данных для </a:t>
            </a:r>
            <a:r>
              <a:rPr lang="en-US" sz="2800" b="1" dirty="0">
                <a:solidFill>
                  <a:schemeClr val="tx1"/>
                </a:solidFill>
              </a:rPr>
              <a:t>PAR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14"/>
          <p:cNvSpPr/>
          <p:nvPr/>
        </p:nvSpPr>
        <p:spPr>
          <a:xfrm>
            <a:off x="272962" y="2070647"/>
            <a:ext cx="8570363" cy="27321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kern="0" dirty="0">
                <a:solidFill>
                  <a:schemeClr val="tx1"/>
                </a:solidFill>
              </a:rPr>
              <a:t>Итогом подготовки исходных данных для конфигурации модели являются: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kern="0" dirty="0">
                <a:solidFill>
                  <a:schemeClr val="tx1"/>
                </a:solidFill>
              </a:rPr>
              <a:t>Балансовая схема, содержащая необходимые для баланса объекты и потоки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kern="0" dirty="0">
                <a:solidFill>
                  <a:schemeClr val="tx1"/>
                </a:solidFill>
              </a:rPr>
              <a:t>Теги расхода/</a:t>
            </a:r>
            <a:r>
              <a:rPr lang="ru-RU" sz="2000" kern="0" dirty="0" err="1">
                <a:solidFill>
                  <a:schemeClr val="tx1"/>
                </a:solidFill>
              </a:rPr>
              <a:t>обводненности</a:t>
            </a:r>
            <a:r>
              <a:rPr lang="ru-RU" sz="2000" kern="0" dirty="0">
                <a:solidFill>
                  <a:schemeClr val="tx1"/>
                </a:solidFill>
              </a:rPr>
              <a:t>/плотности потоков (АСУТП/ОИС)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kern="0" dirty="0">
                <a:solidFill>
                  <a:schemeClr val="tx1"/>
                </a:solidFill>
              </a:rPr>
              <a:t>Теги запасов продукта в емкостях (АСУТП/ОИС)</a:t>
            </a:r>
            <a:endParaRPr lang="en-US" sz="2000" kern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kern="0" dirty="0">
                <a:solidFill>
                  <a:schemeClr val="tx1"/>
                </a:solidFill>
              </a:rPr>
              <a:t>Константы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0E1AA7-737F-48E9-9E4A-F729429BD5C8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7862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7733" y="834062"/>
            <a:ext cx="8588154" cy="58785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.</a:t>
            </a:r>
          </a:p>
          <a:p>
            <a:endParaRPr lang="ru-RU" sz="1400" dirty="0"/>
          </a:p>
        </p:txBody>
      </p:sp>
      <p:sp>
        <p:nvSpPr>
          <p:cNvPr id="2" name="Rectangle 1"/>
          <p:cNvSpPr/>
          <p:nvPr/>
        </p:nvSpPr>
        <p:spPr>
          <a:xfrm>
            <a:off x="-166255" y="834062"/>
            <a:ext cx="9172142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endParaRPr lang="ru-RU" sz="1400" i="1" dirty="0">
              <a:solidFill>
                <a:srgbClr val="C00000"/>
              </a:solidFill>
            </a:endParaRPr>
          </a:p>
          <a:p>
            <a:pPr lvl="2"/>
            <a:r>
              <a:rPr lang="ru-RU" i="1" dirty="0">
                <a:solidFill>
                  <a:srgbClr val="C00000"/>
                </a:solidFill>
              </a:rPr>
              <a:t>Обработано (</a:t>
            </a:r>
            <a:r>
              <a:rPr lang="en-US" i="1" dirty="0">
                <a:solidFill>
                  <a:srgbClr val="C00000"/>
                </a:solidFill>
              </a:rPr>
              <a:t>Processed</a:t>
            </a:r>
            <a:r>
              <a:rPr lang="ru-RU" i="1" dirty="0">
                <a:solidFill>
                  <a:srgbClr val="C00000"/>
                </a:solidFill>
              </a:rPr>
              <a:t>)</a:t>
            </a:r>
            <a:endParaRPr lang="en-US" i="1" dirty="0">
              <a:solidFill>
                <a:srgbClr val="C00000"/>
              </a:solidFill>
            </a:endParaRPr>
          </a:p>
          <a:p>
            <a:pPr lvl="2"/>
            <a:r>
              <a:rPr lang="ru-RU" dirty="0"/>
              <a:t>         Означает, что этап сбора данных за отчетный период завершен и можно   </a:t>
            </a:r>
          </a:p>
          <a:p>
            <a:pPr lvl="2"/>
            <a:r>
              <a:rPr lang="ru-RU" dirty="0"/>
              <a:t>         переходить к анализу и согласованию данных. Статус балансового периода </a:t>
            </a:r>
          </a:p>
          <a:p>
            <a:pPr lvl="2"/>
            <a:r>
              <a:rPr lang="ru-RU" dirty="0"/>
              <a:t>         может быть переведен только в «Активный».</a:t>
            </a:r>
          </a:p>
          <a:p>
            <a:pPr lvl="2"/>
            <a:r>
              <a:rPr lang="ru-RU" i="1" dirty="0">
                <a:solidFill>
                  <a:srgbClr val="C00000"/>
                </a:solidFill>
              </a:rPr>
              <a:t>Активно (</a:t>
            </a:r>
            <a:r>
              <a:rPr lang="en-US" i="1" dirty="0">
                <a:solidFill>
                  <a:srgbClr val="C00000"/>
                </a:solidFill>
              </a:rPr>
              <a:t>Active</a:t>
            </a:r>
            <a:r>
              <a:rPr lang="ru-RU" i="1" dirty="0">
                <a:solidFill>
                  <a:srgbClr val="C00000"/>
                </a:solidFill>
              </a:rPr>
              <a:t>)</a:t>
            </a:r>
            <a:endParaRPr lang="en-US" i="1" dirty="0">
              <a:solidFill>
                <a:srgbClr val="C00000"/>
              </a:solidFill>
            </a:endParaRPr>
          </a:p>
          <a:p>
            <a:pPr lvl="3"/>
            <a:r>
              <a:rPr lang="ru-RU" dirty="0"/>
              <a:t>Означает, что балансовый период, сбор данных для которого был завершен в настоящий момент анализируется и его еще предстоит согласовать. Статус балансового периода может быть переведен только в «Согласованный».</a:t>
            </a:r>
          </a:p>
          <a:p>
            <a:pPr lvl="2"/>
            <a:r>
              <a:rPr lang="ru-RU" i="1" dirty="0">
                <a:solidFill>
                  <a:srgbClr val="C00000"/>
                </a:solidFill>
              </a:rPr>
              <a:t>Согласованно (</a:t>
            </a:r>
            <a:r>
              <a:rPr lang="en-US" i="1" dirty="0">
                <a:solidFill>
                  <a:srgbClr val="C00000"/>
                </a:solidFill>
              </a:rPr>
              <a:t>Reconciled</a:t>
            </a:r>
            <a:r>
              <a:rPr lang="ru-RU" i="1" dirty="0">
                <a:solidFill>
                  <a:srgbClr val="C00000"/>
                </a:solidFill>
              </a:rPr>
              <a:t>)</a:t>
            </a:r>
            <a:endParaRPr lang="en-US" i="1" dirty="0">
              <a:solidFill>
                <a:srgbClr val="C00000"/>
              </a:solidFill>
            </a:endParaRPr>
          </a:p>
          <a:p>
            <a:pPr lvl="3"/>
            <a:r>
              <a:rPr lang="ru-RU" dirty="0"/>
              <a:t>Означает, что данные за балансовый период были собраны, проанализированы и согласованы. Статус может быть переведен в «Закрыт» или снова в «Активный».</a:t>
            </a:r>
            <a:r>
              <a:rPr lang="en-US" dirty="0"/>
              <a:t> </a:t>
            </a:r>
          </a:p>
          <a:p>
            <a:pPr lvl="2"/>
            <a:r>
              <a:rPr lang="ru-RU" i="1" dirty="0">
                <a:solidFill>
                  <a:srgbClr val="C00000"/>
                </a:solidFill>
              </a:rPr>
              <a:t>Закрыто (</a:t>
            </a:r>
            <a:r>
              <a:rPr lang="en-US" i="1" dirty="0">
                <a:solidFill>
                  <a:srgbClr val="C00000"/>
                </a:solidFill>
              </a:rPr>
              <a:t>Closed</a:t>
            </a:r>
            <a:r>
              <a:rPr lang="ru-RU" i="1" dirty="0">
                <a:solidFill>
                  <a:srgbClr val="C00000"/>
                </a:solidFill>
              </a:rPr>
              <a:t>)</a:t>
            </a:r>
            <a:endParaRPr lang="en-US" i="1" dirty="0">
              <a:solidFill>
                <a:srgbClr val="C00000"/>
              </a:solidFill>
            </a:endParaRPr>
          </a:p>
          <a:p>
            <a:pPr lvl="3"/>
            <a:r>
              <a:rPr lang="ru-RU" dirty="0"/>
              <a:t>Означает, что балансовый период закрыт и одобрен для сохранения 	и отправки результатов согласования. Данный статус не может быть никем изменен (за исключением пользователей с соответствующими привилегиями).</a:t>
            </a:r>
            <a:endParaRPr lang="en-US" dirty="0"/>
          </a:p>
          <a:p>
            <a:pPr lvl="2"/>
            <a:r>
              <a:rPr lang="ru-RU" i="1" dirty="0">
                <a:solidFill>
                  <a:srgbClr val="C00000"/>
                </a:solidFill>
              </a:rPr>
              <a:t>Ошибка (</a:t>
            </a:r>
            <a:r>
              <a:rPr lang="en-US" i="1" dirty="0">
                <a:solidFill>
                  <a:srgbClr val="C00000"/>
                </a:solidFill>
              </a:rPr>
              <a:t>Failed</a:t>
            </a:r>
            <a:r>
              <a:rPr lang="ru-RU" i="1" dirty="0">
                <a:solidFill>
                  <a:srgbClr val="C00000"/>
                </a:solidFill>
              </a:rPr>
              <a:t>)</a:t>
            </a:r>
            <a:endParaRPr lang="en-US" i="1" dirty="0">
              <a:solidFill>
                <a:srgbClr val="C00000"/>
              </a:solidFill>
            </a:endParaRPr>
          </a:p>
          <a:p>
            <a:pPr lvl="3"/>
            <a:r>
              <a:rPr lang="ru-RU" dirty="0"/>
              <a:t>Означает, что сбор данных завершен с ошибками. Требуется произвести повторный сбор данных после исправления ошибок.</a:t>
            </a:r>
            <a:endParaRPr lang="en-US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Статусы балансового периода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BF52B6-3F93-487C-BF5B-D2F9A157F127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547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881"/>
            <a:ext cx="9144000" cy="5524377"/>
          </a:xfrm>
          <a:prstGeom prst="rect">
            <a:avLst/>
          </a:prstGeom>
        </p:spPr>
      </p:pic>
      <p:sp>
        <p:nvSpPr>
          <p:cNvPr id="16" name="Скругленный прямоугольник 1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Сводка по «сырым» данным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6914" y="1757349"/>
            <a:ext cx="468194" cy="200588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Rounded Rectangle 4"/>
          <p:cNvSpPr/>
          <p:nvPr/>
        </p:nvSpPr>
        <p:spPr>
          <a:xfrm>
            <a:off x="368030" y="2994592"/>
            <a:ext cx="2765961" cy="7961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/>
              <a:t>Имя выбранной модели и ее версия</a:t>
            </a:r>
            <a:endParaRPr lang="en-US" dirty="0"/>
          </a:p>
        </p:txBody>
      </p:sp>
      <p:cxnSp>
        <p:nvCxnSpPr>
          <p:cNvPr id="9" name="Straight Arrow Connector 8"/>
          <p:cNvCxnSpPr>
            <a:stCxn id="5" idx="0"/>
            <a:endCxn id="4" idx="2"/>
          </p:cNvCxnSpPr>
          <p:nvPr/>
        </p:nvCxnSpPr>
        <p:spPr>
          <a:xfrm flipV="1">
            <a:off x="1751011" y="1957937"/>
            <a:ext cx="0" cy="10366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662271" y="1759118"/>
            <a:ext cx="2300365" cy="200589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ounded Rectangle 16"/>
          <p:cNvSpPr/>
          <p:nvPr/>
        </p:nvSpPr>
        <p:spPr>
          <a:xfrm>
            <a:off x="2576727" y="3815771"/>
            <a:ext cx="2765961" cy="7961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Временной диапазон балансового периода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811154" y="1957937"/>
            <a:ext cx="0" cy="18578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76650" y="1735679"/>
            <a:ext cx="1286673" cy="200589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Straight Arrow Connector 10"/>
          <p:cNvCxnSpPr>
            <a:stCxn id="13" idx="0"/>
          </p:cNvCxnSpPr>
          <p:nvPr/>
        </p:nvCxnSpPr>
        <p:spPr>
          <a:xfrm flipV="1">
            <a:off x="5771724" y="1936268"/>
            <a:ext cx="9980" cy="27832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95918" y="4719490"/>
            <a:ext cx="2351612" cy="7961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ru-RU" dirty="0"/>
              <a:t>Небаланс модели</a:t>
            </a:r>
            <a:endParaRPr lang="en-US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39E0EA2-1881-4F9C-B89F-E8A3CDD03251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1648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881"/>
            <a:ext cx="9144000" cy="5524377"/>
          </a:xfrm>
          <a:prstGeom prst="rect">
            <a:avLst/>
          </a:prstGeom>
        </p:spPr>
      </p:pic>
      <p:sp>
        <p:nvSpPr>
          <p:cNvPr id="8" name="Скругленный прямоугольник 7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Сводка по «сырым» данным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692899" y="1522582"/>
            <a:ext cx="2388577" cy="225136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672" y="1864946"/>
            <a:ext cx="4586981" cy="4347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19" y="4848772"/>
            <a:ext cx="304762" cy="27619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4E40A0A-DF6B-43F8-81F2-65535E44975F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9205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Сводка по данным после сведения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944"/>
            <a:ext cx="9144000" cy="553013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B979ED-A78E-450C-98B3-16DF9AA9A524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3934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Визуальное представление модели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8497"/>
            <a:ext cx="9144000" cy="554390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2E7938-99D0-49E4-B166-04A588820C74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01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875"/>
            <a:ext cx="9144000" cy="5533618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Просмотр деталей объекта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76F84C-5C95-4BD4-9DAE-B7DCE36986C6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153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2512"/>
            <a:ext cx="9144000" cy="5539376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Подробности по оборудованию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9444" y="2063750"/>
            <a:ext cx="820056" cy="209550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A928AC8-6321-492F-B188-8EFFF098CEAC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713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092"/>
            <a:ext cx="9144000" cy="5533616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Подробности по перемещениям</a:t>
            </a:r>
          </a:p>
        </p:txBody>
      </p:sp>
      <p:sp>
        <p:nvSpPr>
          <p:cNvPr id="5" name="Rectangle 4"/>
          <p:cNvSpPr/>
          <p:nvPr/>
        </p:nvSpPr>
        <p:spPr>
          <a:xfrm>
            <a:off x="2316844" y="2063750"/>
            <a:ext cx="820056" cy="209550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A486566-8A2F-4966-A5AE-0E84AE59A9A7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719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2419"/>
            <a:ext cx="9144000" cy="5561162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Изменение типа измерения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0344" y="3016250"/>
            <a:ext cx="820056" cy="501650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5A63C65-2AEA-436B-8204-12CD5D2B22C8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2794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7554"/>
            <a:ext cx="9144000" cy="5550892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Корректировка измерений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282544" y="3022600"/>
            <a:ext cx="1048656" cy="342900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92DC285-F084-4110-9938-38EA57EA47EA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102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593"/>
            <a:ext cx="9144000" cy="5563414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Подробности по резервуарам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2344" y="2089150"/>
            <a:ext cx="820056" cy="209550"/>
          </a:xfrm>
          <a:prstGeom prst="rect">
            <a:avLst/>
          </a:prstGeom>
          <a:noFill/>
          <a:ln w="317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0B3D29-8FD8-43AC-B8CC-03A25AF98564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1304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r="5469"/>
          <a:stretch/>
        </p:blipFill>
        <p:spPr>
          <a:xfrm>
            <a:off x="-1" y="376959"/>
            <a:ext cx="9144001" cy="58881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42508" y="1080658"/>
            <a:ext cx="5001491" cy="1057852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4916172" y="1209613"/>
            <a:ext cx="3454167" cy="445999"/>
          </a:xfrm>
          <a:prstGeom prst="rect">
            <a:avLst/>
          </a:prstGeom>
          <a:noFill/>
        </p:spPr>
        <p:txBody>
          <a:bodyPr wrap="none" lIns="91162" tIns="45583" rIns="91162" bIns="45583" rtlCol="0">
            <a:spAutoFit/>
          </a:bodyPr>
          <a:lstStyle/>
          <a:p>
            <a:pPr algn="ctr"/>
            <a:r>
              <a:rPr lang="ru-RU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Согласование данных</a:t>
            </a:r>
            <a:endParaRPr lang="en-US" sz="23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BB26A2-1BD5-43D8-8B8C-5DF35FB362CE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0732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Согласование балансов</a:t>
            </a:r>
          </a:p>
        </p:txBody>
      </p:sp>
      <p:sp>
        <p:nvSpPr>
          <p:cNvPr id="6" name="Rounded Rectangle 16"/>
          <p:cNvSpPr/>
          <p:nvPr/>
        </p:nvSpPr>
        <p:spPr>
          <a:xfrm>
            <a:off x="359064" y="1320411"/>
            <a:ext cx="8369300" cy="4789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buNone/>
            </a:pPr>
            <a:r>
              <a:rPr lang="en-US" sz="2000" dirty="0"/>
              <a:t>PAR</a:t>
            </a:r>
            <a:r>
              <a:rPr lang="ru-RU" sz="2000" dirty="0"/>
              <a:t> использует математические инструменты, которые могут использоваться для выполнения согласования данных, определения грубых ошибок и определения потерянных перемещений</a:t>
            </a:r>
            <a:endParaRPr lang="en-US" sz="2000" dirty="0"/>
          </a:p>
          <a:p>
            <a:pPr>
              <a:spcBef>
                <a:spcPct val="0"/>
              </a:spcBef>
              <a:buNone/>
            </a:pPr>
            <a:endParaRPr lang="en-US" sz="2000" dirty="0"/>
          </a:p>
          <a:p>
            <a:pPr>
              <a:spcBef>
                <a:spcPct val="0"/>
              </a:spcBef>
              <a:buNone/>
            </a:pPr>
            <a:r>
              <a:rPr lang="ru-RU" sz="2000" dirty="0"/>
              <a:t>Как правило, многочисленные аномалии или грубые ошибки в наборе данных возникают в любой момент времени. Быстрое обнаружение этих аномалий и их исправление - это ключевой шаг для закрытия ежедневного баланса</a:t>
            </a:r>
            <a:endParaRPr lang="en-US" sz="2000" dirty="0"/>
          </a:p>
          <a:p>
            <a:pPr>
              <a:spcBef>
                <a:spcPct val="0"/>
              </a:spcBef>
              <a:buNone/>
            </a:pPr>
            <a:endParaRPr lang="en-US" sz="2000" dirty="0"/>
          </a:p>
          <a:p>
            <a:pPr>
              <a:spcBef>
                <a:spcPct val="0"/>
              </a:spcBef>
              <a:buNone/>
            </a:pPr>
            <a:r>
              <a:rPr lang="ru-RU" sz="2000" dirty="0"/>
              <a:t>Грубая ошибка: для каждого узла на основе всех измерений, которые влияют на баланс вокруг этого узла, алгоритм согласования производит статистический анализ, который зависит от допустимых отклонений, связанных с потоками входящих и исходящих из узла, а также корректировок, внесенных в баланса через этот узел</a:t>
            </a:r>
            <a:endParaRPr lang="en-US" sz="2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AA4830-B098-4464-BEB3-14C0AAA88C6D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345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0908" y="1062782"/>
            <a:ext cx="6959184" cy="494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47" y="713436"/>
            <a:ext cx="6882360" cy="381000"/>
          </a:xfrm>
        </p:spPr>
        <p:txBody>
          <a:bodyPr>
            <a:noAutofit/>
          </a:bodyPr>
          <a:lstStyle/>
          <a:p>
            <a:r>
              <a:rPr lang="ru-RU" sz="2000" dirty="0"/>
              <a:t>Графики Начальный</a:t>
            </a:r>
            <a:r>
              <a:rPr lang="en-US" sz="2000" dirty="0"/>
              <a:t>/</a:t>
            </a:r>
            <a:r>
              <a:rPr lang="ru-RU" sz="2000" dirty="0"/>
              <a:t>Конечный</a:t>
            </a:r>
            <a:r>
              <a:rPr lang="en-US" sz="2000" dirty="0"/>
              <a:t> </a:t>
            </a:r>
            <a:r>
              <a:rPr lang="ru-RU" sz="2000" dirty="0"/>
              <a:t>и Вход</a:t>
            </a:r>
            <a:r>
              <a:rPr lang="en-US" sz="2000" dirty="0"/>
              <a:t>/</a:t>
            </a:r>
            <a:r>
              <a:rPr lang="ru-RU" sz="2000" dirty="0"/>
              <a:t>Выход</a:t>
            </a:r>
            <a:endParaRPr lang="en-US" sz="2000" dirty="0">
              <a:sym typeface="Wingdings" pitchFamily="2" charset="2"/>
            </a:endParaRPr>
          </a:p>
          <a:p>
            <a:endParaRPr lang="en-US" sz="2000" dirty="0">
              <a:sym typeface="Wingdings" pitchFamily="2" charset="2"/>
            </a:endParaRPr>
          </a:p>
          <a:p>
            <a:endParaRPr lang="en-US" sz="2000" dirty="0">
              <a:sym typeface="Wingdings" pitchFamily="2" charset="2"/>
            </a:endParaRPr>
          </a:p>
          <a:p>
            <a:endParaRPr lang="en-US" sz="2000" dirty="0">
              <a:sym typeface="Wingdings" pitchFamily="2" charset="2"/>
            </a:endParaRPr>
          </a:p>
          <a:p>
            <a:endParaRPr lang="en-US" sz="2000" dirty="0">
              <a:sym typeface="Wingdings" pitchFamily="2" charset="2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0" y="6183442"/>
            <a:ext cx="8851692" cy="52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0" hangingPunct="0">
              <a:spcBef>
                <a:spcPct val="20000"/>
              </a:spcBef>
              <a:buClr>
                <a:srgbClr val="0053A1"/>
              </a:buClr>
            </a:pPr>
            <a:r>
              <a:rPr lang="ru-RU" sz="2000" dirty="0"/>
              <a:t>Графики Начальный</a:t>
            </a:r>
            <a:r>
              <a:rPr lang="en-US" sz="2000" dirty="0"/>
              <a:t>/</a:t>
            </a:r>
            <a:r>
              <a:rPr lang="ru-RU" sz="2000" dirty="0"/>
              <a:t>Конечный</a:t>
            </a:r>
            <a:r>
              <a:rPr lang="en-US" sz="2000" dirty="0"/>
              <a:t> </a:t>
            </a:r>
            <a:r>
              <a:rPr lang="ru-RU" sz="2000" dirty="0"/>
              <a:t>и Вход</a:t>
            </a:r>
            <a:r>
              <a:rPr lang="en-US" sz="2000" dirty="0"/>
              <a:t>/</a:t>
            </a:r>
            <a:r>
              <a:rPr lang="ru-RU" sz="2000" dirty="0"/>
              <a:t>Выход показывают тренд для последних 10 дней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. </a:t>
            </a:r>
            <a:r>
              <a:rPr kumimoji="0" lang="ru-RU" sz="20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На них отображаются как сырые, так и согласованные значения</a:t>
            </a:r>
            <a:r>
              <a:rPr lang="en-US" sz="2000" kern="0" dirty="0"/>
              <a:t>.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sym typeface="Wingdings" pitchFamily="2" charset="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55888" y="1619442"/>
            <a:ext cx="1336624" cy="2998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 согласования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1751" y="1488277"/>
            <a:ext cx="1114270" cy="4309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После согласования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5888" y="4260209"/>
            <a:ext cx="1336624" cy="2998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 согласования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751" y="4129044"/>
            <a:ext cx="1114270" cy="4309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После согласования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6183" y="1769343"/>
            <a:ext cx="1336624" cy="2998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 согласования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2046" y="1638178"/>
            <a:ext cx="1114270" cy="4309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После согласования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6183" y="4260209"/>
            <a:ext cx="1336624" cy="2998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 согласования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2046" y="4129044"/>
            <a:ext cx="1114270" cy="4309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После согласования</a:t>
            </a: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Анализ результатов сведения баланса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4DBFA9E-1A33-43D5-8C66-2642B5685824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255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78970" y="56804"/>
            <a:ext cx="7388630" cy="54032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Обзорная схема цеха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AFBB18-8DA6-4931-9550-5CC211AA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0" y="1400977"/>
            <a:ext cx="9023289" cy="411355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0EFEBA-6CD3-4758-A996-52695C48B9FA}"/>
              </a:ext>
            </a:extLst>
          </p:cNvPr>
          <p:cNvSpPr/>
          <p:nvPr/>
        </p:nvSpPr>
        <p:spPr>
          <a:xfrm>
            <a:off x="7915275" y="56804"/>
            <a:ext cx="1149755" cy="295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6422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4986</TotalTime>
  <Words>2326</Words>
  <Application>Microsoft Office PowerPoint</Application>
  <PresentationFormat>Экран (4:3)</PresentationFormat>
  <Paragraphs>443</Paragraphs>
  <Slides>54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54</vt:i4>
      </vt:variant>
    </vt:vector>
  </HeadingPairs>
  <TitlesOfParts>
    <vt:vector size="65" baseType="lpstr">
      <vt:lpstr>Arial</vt:lpstr>
      <vt:lpstr>Arial Rounded MT Bold</vt:lpstr>
      <vt:lpstr>Calibri</vt:lpstr>
      <vt:lpstr>Calibri Light</vt:lpstr>
      <vt:lpstr>Cambria Math</vt:lpstr>
      <vt:lpstr>Symbol</vt:lpstr>
      <vt:lpstr>Times New Roman</vt:lpstr>
      <vt:lpstr>Тема Office</vt:lpstr>
      <vt:lpstr>Equation</vt:lpstr>
      <vt:lpstr>Document</vt:lpstr>
      <vt:lpstr>Visio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Использование избыточности данных для выявления ошибок измерений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Musaverov, Dmitry</dc:creator>
  <cp:lastModifiedBy>Dmitriy Seleznev</cp:lastModifiedBy>
  <cp:revision>261</cp:revision>
  <dcterms:created xsi:type="dcterms:W3CDTF">2016-11-12T19:50:28Z</dcterms:created>
  <dcterms:modified xsi:type="dcterms:W3CDTF">2024-03-18T11:33:18Z</dcterms:modified>
</cp:coreProperties>
</file>